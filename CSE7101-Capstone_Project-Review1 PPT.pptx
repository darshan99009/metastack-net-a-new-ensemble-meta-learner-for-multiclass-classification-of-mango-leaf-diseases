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10.xml" ContentType="application/vnd.openxmlformats-officedocument.presentationml.notes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9" r:id="rId1"/>
  </p:sldMasterIdLst>
  <p:notesMasterIdLst>
    <p:notesMasterId r:id="rId12"/>
  </p:notesMasterIdLst>
  <p:sldIdLst>
    <p:sldId id="256" r:id="rId2"/>
    <p:sldId id="269" r:id="rId3"/>
    <p:sldId id="257" r:id="rId4"/>
    <p:sldId id="273" r:id="rId5"/>
    <p:sldId id="268" r:id="rId6"/>
    <p:sldId id="272" r:id="rId7"/>
    <p:sldId id="271" r:id="rId8"/>
    <p:sldId id="270" r:id="rId9"/>
    <p:sldId id="265" r:id="rId10"/>
    <p:sldId id="266" r:id="rId11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 xmlns="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 xmlns="">
          <a:srgbClr val="FF0000"/>
        </p14:laserClr>
      </p:ext>
      <p:ext uri="{2FDB2607-1784-4EEB-B798-7EB5836EED8A}">
        <p14:showMediaCtrls xmlns:p14="http://schemas.microsoft.com/office/powerpoint/2010/main" xmlns="" val="1"/>
      </p:ext>
    </p:extLst>
  </p:showPr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220"/>
    </p:ext>
    <p:ext uri="{FD5EFAAD-0ECE-453E-9831-46B23BE46B34}">
      <p15:chartTrackingRefBased xmlns:p15="http://schemas.microsoft.com/office/powerpoint/2012/main" xmlns="" val="0"/>
    </p:ext>
  </p:extLst>
</p:presentationPr>
</file>

<file path=ppt/tableStyles.xml><?xml version="1.0" encoding="utf-8"?>
<a:tblStyleLst xmlns:a="http://schemas.openxmlformats.org/drawingml/2006/main" def="{90651C3A-4460-11DB-9652-00E08161165F}">
  <a:tblStyle styleId="{57690726-49DA-4552-BDEB-330DD8EA8BD9}" styleName="Table_0">
    <a:wholeTbl>
      <a:tcTxStyle b="off" i="off">
        <a:font>
          <a:latin typeface="Bookman Old Style"/>
          <a:ea typeface="Bookman Old Style"/>
          <a:cs typeface="Bookman Old Style"/>
        </a:font>
        <a:schemeClr val="dk1"/>
      </a:tcTxStyle>
      <a:tcStyle>
        <a:tcBdr>
          <a:left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64" d="100"/>
          <a:sy n="64" d="100"/>
        </p:scale>
        <p:origin x="-724" y="-6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 rtl="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 rtl="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 rtl="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 rtl="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 rtl="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 rtl="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 rtl="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 rtl="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 rtl="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xmlns="" val="3021696206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5" name="Google Shape;85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xmlns="" val="401408057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" name="Google Shape;94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xmlns="" val="15529114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" name="Google Shape;94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xmlns="" val="8324418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2" name="Google Shape;112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xmlns="" val="32483051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2" name="Google Shape;112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xmlns="" val="6671651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2" name="Google Shape;112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xmlns="" val="304367894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2" name="Google Shape;112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xmlns="" val="159421097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2" name="Google Shape;112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xmlns="" val="221559352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2" name="Google Shape;142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xmlns="" val="281243132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8" name="Google Shape;148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xmlns="" val="35843593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2"/>
          <p:cNvSpPr txBox="1">
            <a:spLocks noGrp="1"/>
          </p:cNvSpPr>
          <p:nvPr>
            <p:ph type="ctrTitle"/>
          </p:nvPr>
        </p:nvSpPr>
        <p:spPr>
          <a:xfrm>
            <a:off x="1050877" y="1322386"/>
            <a:ext cx="10363200" cy="147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800"/>
              <a:buFont typeface="Verdana"/>
              <a:buNone/>
              <a:defRPr>
                <a:solidFill>
                  <a:srgbClr val="17365D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" name="Google Shape;15;p2"/>
          <p:cNvSpPr txBox="1">
            <a:spLocks noGrp="1"/>
          </p:cNvSpPr>
          <p:nvPr>
            <p:ph type="subTitle" idx="1"/>
          </p:nvPr>
        </p:nvSpPr>
        <p:spPr>
          <a:xfrm>
            <a:off x="2032000" y="3326641"/>
            <a:ext cx="85344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 rtl="0">
              <a:spcBef>
                <a:spcPts val="400"/>
              </a:spcBef>
              <a:spcAft>
                <a:spcPts val="0"/>
              </a:spcAft>
              <a:buClr>
                <a:srgbClr val="17365D"/>
              </a:buClr>
              <a:buSzPts val="2000"/>
              <a:buNone/>
              <a:defRPr sz="2000" b="1">
                <a:solidFill>
                  <a:srgbClr val="17365D"/>
                </a:solidFill>
              </a:defRPr>
            </a:lvl1pPr>
            <a:lvl2pPr lvl="1" algn="ctr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2pPr>
            <a:lvl3pPr lvl="2" algn="ctr" rtl="0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>
                <a:solidFill>
                  <a:srgbClr val="888888"/>
                </a:solidFill>
              </a:defRPr>
            </a:lvl3pPr>
            <a:lvl4pPr lvl="3" algn="ctr" rtl="0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>
                <a:solidFill>
                  <a:srgbClr val="888888"/>
                </a:solidFill>
              </a:defRPr>
            </a:lvl4pPr>
            <a:lvl5pPr lvl="4" algn="ctr" rtl="0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>
                <a:solidFill>
                  <a:srgbClr val="888888"/>
                </a:solidFill>
              </a:defRPr>
            </a:lvl5pPr>
            <a:lvl6pPr lvl="5" algn="ctr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6" name="Google Shape;16;p2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2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2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3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800"/>
              <a:buFont typeface="Verdana"/>
              <a:buNone/>
              <a:defRPr>
                <a:solidFill>
                  <a:srgbClr val="17365D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3"/>
          <p:cNvSpPr txBox="1">
            <a:spLocks noGrp="1"/>
          </p:cNvSpPr>
          <p:nvPr>
            <p:ph type="body" idx="1"/>
          </p:nvPr>
        </p:nvSpPr>
        <p:spPr>
          <a:xfrm>
            <a:off x="812800" y="1143001"/>
            <a:ext cx="10668000" cy="49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>
                <a:solidFill>
                  <a:schemeClr val="dk1"/>
                </a:solidFill>
              </a:defRPr>
            </a:lvl1pPr>
            <a:lvl2pPr marL="914400" lvl="1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>
                <a:solidFill>
                  <a:schemeClr val="dk1"/>
                </a:solidFill>
              </a:defRPr>
            </a:lvl2pPr>
            <a:lvl3pPr marL="1371600" lvl="2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>
                <a:solidFill>
                  <a:schemeClr val="dk1"/>
                </a:solidFill>
              </a:defRPr>
            </a:lvl3pPr>
            <a:lvl4pPr marL="1828800" lvl="3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>
                <a:solidFill>
                  <a:schemeClr val="dk1"/>
                </a:solidFill>
              </a:defRPr>
            </a:lvl4pPr>
            <a:lvl5pPr marL="2286000" lvl="4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>
                <a:solidFill>
                  <a:schemeClr val="dk1"/>
                </a:solidFill>
              </a:defRPr>
            </a:lvl5pPr>
            <a:lvl6pPr marL="2743200" lvl="5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2" name="Google Shape;22;p3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3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3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4"/>
          <p:cNvSpPr txBox="1">
            <a:spLocks noGrp="1"/>
          </p:cNvSpPr>
          <p:nvPr>
            <p:ph type="title"/>
          </p:nvPr>
        </p:nvSpPr>
        <p:spPr>
          <a:xfrm>
            <a:off x="963084" y="4406903"/>
            <a:ext cx="10363200" cy="136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4000"/>
              <a:buFont typeface="Verdana"/>
              <a:buNone/>
              <a:defRPr sz="4000" b="1" cap="none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4"/>
          <p:cNvSpPr txBox="1"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 rtl="0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 rtl="0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 rtl="0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 rtl="0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 rtl="0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 rtl="0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 rtl="0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 rtl="0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8" name="Google Shape;28;p4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4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p4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5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800"/>
              <a:buFont typeface="Verdana"/>
              <a:buNone/>
              <a:defRPr>
                <a:solidFill>
                  <a:srgbClr val="FF0000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5"/>
          <p:cNvSpPr txBox="1">
            <a:spLocks noGrp="1"/>
          </p:cNvSpPr>
          <p:nvPr>
            <p:ph type="body" idx="1"/>
          </p:nvPr>
        </p:nvSpPr>
        <p:spPr>
          <a:xfrm>
            <a:off x="609600" y="1600203"/>
            <a:ext cx="5384700" cy="452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4" name="Google Shape;34;p5"/>
          <p:cNvSpPr txBox="1">
            <a:spLocks noGrp="1"/>
          </p:cNvSpPr>
          <p:nvPr>
            <p:ph type="body" idx="2"/>
          </p:nvPr>
        </p:nvSpPr>
        <p:spPr>
          <a:xfrm>
            <a:off x="6197600" y="1600203"/>
            <a:ext cx="5384700" cy="452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5" name="Google Shape;35;p5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6" name="Google Shape;36;p5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5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6"/>
          <p:cNvSpPr txBox="1">
            <a:spLocks noGrp="1"/>
          </p:cNvSpPr>
          <p:nvPr>
            <p:ph type="title"/>
          </p:nvPr>
        </p:nvSpPr>
        <p:spPr>
          <a:xfrm>
            <a:off x="859368" y="304800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800"/>
              <a:buFont typeface="Verdana"/>
              <a:buNone/>
              <a:defRPr>
                <a:solidFill>
                  <a:srgbClr val="FF0000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p6"/>
          <p:cNvSpPr txBox="1">
            <a:spLocks noGrp="1"/>
          </p:cNvSpPr>
          <p:nvPr>
            <p:ph type="body" idx="1"/>
          </p:nvPr>
        </p:nvSpPr>
        <p:spPr>
          <a:xfrm>
            <a:off x="609600" y="1535113"/>
            <a:ext cx="5386800" cy="63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1" name="Google Shape;41;p6"/>
          <p:cNvSpPr txBox="1">
            <a:spLocks noGrp="1"/>
          </p:cNvSpPr>
          <p:nvPr>
            <p:ph type="body" idx="2"/>
          </p:nvPr>
        </p:nvSpPr>
        <p:spPr>
          <a:xfrm>
            <a:off x="609600" y="2174875"/>
            <a:ext cx="5386800" cy="395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2" name="Google Shape;42;p6"/>
          <p:cNvSpPr txBox="1">
            <a:spLocks noGrp="1"/>
          </p:cNvSpPr>
          <p:nvPr>
            <p:ph type="body" idx="3"/>
          </p:nvPr>
        </p:nvSpPr>
        <p:spPr>
          <a:xfrm>
            <a:off x="6193369" y="1535113"/>
            <a:ext cx="5388900" cy="63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6"/>
          <p:cNvSpPr txBox="1">
            <a:spLocks noGrp="1"/>
          </p:cNvSpPr>
          <p:nvPr>
            <p:ph type="body" idx="4"/>
          </p:nvPr>
        </p:nvSpPr>
        <p:spPr>
          <a:xfrm>
            <a:off x="6193369" y="2174875"/>
            <a:ext cx="5388900" cy="395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6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5" name="Google Shape;45;p6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6" name="Google Shape;46;p6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7"/>
          <p:cNvSpPr txBox="1">
            <a:spLocks noGrp="1"/>
          </p:cNvSpPr>
          <p:nvPr>
            <p:ph type="title"/>
          </p:nvPr>
        </p:nvSpPr>
        <p:spPr>
          <a:xfrm>
            <a:off x="3860800" y="274638"/>
            <a:ext cx="77217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7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0" name="Google Shape;50;p7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7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  <p:pic>
        <p:nvPicPr>
          <p:cNvPr id="52" name="Google Shape;52;p7" descr="C:\Users\AMMU\Desktop\Border.pn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2505209" y="139874"/>
            <a:ext cx="9686793" cy="6983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8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5" name="Google Shape;55;p8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8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9"/>
          <p:cNvSpPr txBox="1">
            <a:spLocks noGrp="1"/>
          </p:cNvSpPr>
          <p:nvPr>
            <p:ph type="title"/>
          </p:nvPr>
        </p:nvSpPr>
        <p:spPr>
          <a:xfrm>
            <a:off x="609602" y="273050"/>
            <a:ext cx="4011000" cy="116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000"/>
              <a:buFont typeface="Verdana"/>
              <a:buNone/>
              <a:defRPr sz="2000" b="1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body" idx="1"/>
          </p:nvPr>
        </p:nvSpPr>
        <p:spPr>
          <a:xfrm>
            <a:off x="4766733" y="273053"/>
            <a:ext cx="6815700" cy="58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body" idx="2"/>
          </p:nvPr>
        </p:nvSpPr>
        <p:spPr>
          <a:xfrm>
            <a:off x="609602" y="1435103"/>
            <a:ext cx="4011000" cy="469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 rtl="0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 rtl="0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1" name="Google Shape;61;p9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9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9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0"/>
          <p:cNvSpPr txBox="1">
            <a:spLocks noGrp="1"/>
          </p:cNvSpPr>
          <p:nvPr>
            <p:ph type="title"/>
          </p:nvPr>
        </p:nvSpPr>
        <p:spPr>
          <a:xfrm>
            <a:off x="2389717" y="4800600"/>
            <a:ext cx="7315200" cy="5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000"/>
              <a:buFont typeface="Verdana"/>
              <a:buNone/>
              <a:defRPr sz="2000" b="1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>
            <a:spLocks noGrp="1"/>
          </p:cNvSpPr>
          <p:nvPr>
            <p:ph type="pic" idx="2"/>
          </p:nvPr>
        </p:nvSpPr>
        <p:spPr>
          <a:xfrm>
            <a:off x="2389717" y="612775"/>
            <a:ext cx="73152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7" name="Google Shape;67;p10"/>
          <p:cNvSpPr txBox="1">
            <a:spLocks noGrp="1"/>
          </p:cNvSpPr>
          <p:nvPr>
            <p:ph type="body" idx="1"/>
          </p:nvPr>
        </p:nvSpPr>
        <p:spPr>
          <a:xfrm>
            <a:off x="2389717" y="5367338"/>
            <a:ext cx="7315200" cy="80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 rtl="0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 rtl="0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8" name="Google Shape;68;p10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9" name="Google Shape;69;p10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0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1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body" idx="1"/>
          </p:nvPr>
        </p:nvSpPr>
        <p:spPr>
          <a:xfrm rot="5400000">
            <a:off x="3670300" y="-1714499"/>
            <a:ext cx="4953000" cy="1066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4" name="Google Shape;74;p11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5" name="Google Shape;75;p11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1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2"/>
          <p:cNvSpPr txBox="1">
            <a:spLocks noGrp="1"/>
          </p:cNvSpPr>
          <p:nvPr>
            <p:ph type="title"/>
          </p:nvPr>
        </p:nvSpPr>
        <p:spPr>
          <a:xfrm rot="5400000">
            <a:off x="7285050" y="1828791"/>
            <a:ext cx="5851500" cy="274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body" idx="1"/>
          </p:nvPr>
        </p:nvSpPr>
        <p:spPr>
          <a:xfrm rot="5400000">
            <a:off x="1697000" y="-812859"/>
            <a:ext cx="5851500" cy="802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0" name="Google Shape;80;p12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1" name="Google Shape;81;p12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12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800"/>
              <a:buFont typeface="Verdana"/>
              <a:buNone/>
              <a:defRPr sz="2800" b="1" i="0" u="none" strike="noStrike" cap="none">
                <a:solidFill>
                  <a:srgbClr val="FF0000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812800" y="1143001"/>
            <a:ext cx="10668000" cy="49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L="914400" marR="0" lvl="1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marL="1371600" marR="0" lvl="2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marL="1828800" marR="0" lvl="3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sz="16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marL="2286000" marR="0" lvl="4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  <p:cxnSp>
        <p:nvCxnSpPr>
          <p:cNvPr id="11" name="Google Shape;11;p1"/>
          <p:cNvCxnSpPr/>
          <p:nvPr/>
        </p:nvCxnSpPr>
        <p:spPr>
          <a:xfrm>
            <a:off x="812800" y="914400"/>
            <a:ext cx="10668000" cy="0"/>
          </a:xfrm>
          <a:prstGeom prst="straightConnector1">
            <a:avLst/>
          </a:prstGeom>
          <a:noFill/>
          <a:ln w="57150" cap="flat" cmpd="thickThin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2" name="Google Shape;12;p1"/>
          <p:cNvPicPr preferRelativeResize="0"/>
          <p:nvPr/>
        </p:nvPicPr>
        <p:blipFill rotWithShape="1">
          <a:blip r:embed="rId13">
            <a:alphaModFix/>
          </a:blip>
          <a:srcRect b="18046"/>
          <a:stretch/>
        </p:blipFill>
        <p:spPr>
          <a:xfrm>
            <a:off x="0" y="5991366"/>
            <a:ext cx="12192001" cy="866633"/>
          </a:xfrm>
          <a:prstGeom prst="rect">
            <a:avLst/>
          </a:prstGeom>
          <a:noFill/>
          <a:ln>
            <a:noFill/>
          </a:ln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darshan99009/IST_34-Mango-Leaf-Disease-detection-Using-Deep-Learning-and-Explainable-AI-CSE7101-" TargetMode="Externa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3"/>
          <p:cNvSpPr txBox="1">
            <a:spLocks noGrp="1"/>
          </p:cNvSpPr>
          <p:nvPr>
            <p:ph type="ctrTitle"/>
          </p:nvPr>
        </p:nvSpPr>
        <p:spPr>
          <a:xfrm>
            <a:off x="790469" y="1069102"/>
            <a:ext cx="10363200" cy="9628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 algn="ctr"/>
            <a:r>
              <a:rPr lang="en-US" sz="2000" dirty="0" smtClean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PSCS_150 Student Innovation (Mango leaf  Disease  Detection Using Deep Learning)</a:t>
            </a:r>
            <a:endParaRPr sz="2000" dirty="0">
              <a:solidFill>
                <a:schemeClr val="tx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88" name="Google Shape;88;p13"/>
          <p:cNvSpPr txBox="1">
            <a:spLocks noGrp="1"/>
          </p:cNvSpPr>
          <p:nvPr>
            <p:ph type="subTitle" idx="1"/>
          </p:nvPr>
        </p:nvSpPr>
        <p:spPr>
          <a:xfrm>
            <a:off x="770589" y="2234195"/>
            <a:ext cx="4391131" cy="3996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>
              <a:spcBef>
                <a:spcPts val="0"/>
              </a:spcBef>
            </a:pPr>
            <a:r>
              <a:rPr lang="en-GB" sz="1800" dirty="0">
                <a:latin typeface="Cambria" panose="02040503050406030204" pitchFamily="18" charset="0"/>
                <a:ea typeface="Cambria" panose="02040503050406030204" pitchFamily="18" charset="0"/>
              </a:rPr>
              <a:t>Batch </a:t>
            </a:r>
            <a:r>
              <a:rPr lang="en-GB" sz="1800" dirty="0" smtClean="0">
                <a:latin typeface="Cambria" panose="02040503050406030204" pitchFamily="18" charset="0"/>
                <a:ea typeface="Cambria" panose="02040503050406030204" pitchFamily="18" charset="0"/>
              </a:rPr>
              <a:t>Number:</a:t>
            </a:r>
            <a:r>
              <a:rPr lang="en-US" sz="1800" dirty="0" smtClean="0"/>
              <a:t>IST_34</a:t>
            </a:r>
          </a:p>
          <a:p>
            <a:pPr marL="0" lvl="0" indent="0" algn="l">
              <a:spcBef>
                <a:spcPts val="0"/>
              </a:spcBef>
            </a:pPr>
            <a:endParaRPr sz="18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90" name="Google Shape;90;p13"/>
          <p:cNvSpPr txBox="1"/>
          <p:nvPr/>
        </p:nvSpPr>
        <p:spPr>
          <a:xfrm>
            <a:off x="6480195" y="2513340"/>
            <a:ext cx="5514300" cy="2020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000"/>
              <a:buFont typeface="Arial"/>
              <a:buNone/>
            </a:pPr>
            <a:r>
              <a:rPr lang="en-GB" sz="1800" b="1" i="0" u="none" strike="noStrike" cap="none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Under the Supervision of,</a:t>
            </a:r>
            <a:endParaRPr sz="18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ctr" rtl="0">
              <a:spcBef>
                <a:spcPts val="400"/>
              </a:spcBef>
              <a:spcAft>
                <a:spcPts val="0"/>
              </a:spcAft>
              <a:buClr>
                <a:srgbClr val="17365D"/>
              </a:buClr>
              <a:buSzPts val="2000"/>
              <a:buFont typeface="Arial"/>
              <a:buNone/>
            </a:pPr>
            <a:endParaRPr sz="2000" b="1" i="0" u="none" strike="noStrike" cap="none" dirty="0">
              <a:solidFill>
                <a:srgbClr val="17365D"/>
              </a:solidFill>
              <a:latin typeface="Cambria" panose="02040503050406030204" pitchFamily="18" charset="0"/>
              <a:ea typeface="Cambria" panose="02040503050406030204" pitchFamily="18" charset="0"/>
              <a:cs typeface="Verdana"/>
              <a:sym typeface="Verdana"/>
            </a:endParaRPr>
          </a:p>
          <a:p>
            <a:pPr marL="0" marR="0" lvl="0" indent="0" algn="ctr" rtl="0">
              <a:spcBef>
                <a:spcPts val="340"/>
              </a:spcBef>
              <a:spcAft>
                <a:spcPts val="0"/>
              </a:spcAft>
              <a:buClr>
                <a:srgbClr val="17365D"/>
              </a:buClr>
              <a:buSzPts val="1700"/>
              <a:buFont typeface="Arial"/>
              <a:buNone/>
            </a:pPr>
            <a:r>
              <a:rPr lang="en-GB" sz="1700" b="1" i="0" u="none" strike="noStrike" cap="none" dirty="0" smtClean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Dr. </a:t>
            </a:r>
            <a:r>
              <a:rPr lang="en-GB" sz="1700" b="1" i="0" u="none" strike="noStrike" cap="none" dirty="0" err="1" smtClean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Vignesh</a:t>
            </a:r>
            <a:r>
              <a:rPr lang="en-GB" sz="1700" b="1" i="0" u="none" strike="noStrike" cap="none" dirty="0" smtClean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 R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ctr" rtl="0">
              <a:spcBef>
                <a:spcPts val="340"/>
              </a:spcBef>
              <a:spcAft>
                <a:spcPts val="0"/>
              </a:spcAft>
              <a:buClr>
                <a:srgbClr val="17365D"/>
              </a:buClr>
              <a:buSzPts val="1700"/>
              <a:buFont typeface="Arial"/>
              <a:buNone/>
            </a:pPr>
            <a:r>
              <a:rPr lang="en-GB" sz="1700" b="1" i="0" u="none" strike="noStrike" cap="none" dirty="0" smtClean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Assistant </a:t>
            </a:r>
            <a:r>
              <a:rPr lang="en-GB" sz="1700" b="1" i="0" u="none" strike="noStrike" cap="none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Professor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ctr" rtl="0">
              <a:spcBef>
                <a:spcPts val="340"/>
              </a:spcBef>
              <a:spcAft>
                <a:spcPts val="0"/>
              </a:spcAft>
              <a:buClr>
                <a:srgbClr val="17365D"/>
              </a:buClr>
              <a:buSzPts val="1700"/>
              <a:buFont typeface="Arial"/>
              <a:buNone/>
            </a:pPr>
            <a:r>
              <a:rPr lang="en-GB" sz="1700" b="1" i="0" u="none" strike="noStrike" cap="none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School of Computer Science </a:t>
            </a:r>
            <a:r>
              <a:rPr lang="en-GB" sz="1700" b="1" i="0" u="none" strike="noStrike" cap="none" dirty="0" smtClean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and </a:t>
            </a:r>
            <a:r>
              <a:rPr lang="en-GB" sz="1700" b="1" i="0" u="none" strike="noStrike" cap="none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Engineering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ctr" rtl="0">
              <a:spcBef>
                <a:spcPts val="340"/>
              </a:spcBef>
              <a:spcAft>
                <a:spcPts val="0"/>
              </a:spcAft>
              <a:buClr>
                <a:srgbClr val="17365D"/>
              </a:buClr>
              <a:buSzPts val="1700"/>
              <a:buFont typeface="Arial"/>
              <a:buNone/>
            </a:pPr>
            <a:r>
              <a:rPr lang="en-GB" sz="1700" b="1" i="0" u="none" strike="noStrike" cap="none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Presidency University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l" rtl="0">
              <a:spcBef>
                <a:spcPts val="400"/>
              </a:spcBef>
              <a:spcAft>
                <a:spcPts val="0"/>
              </a:spcAft>
              <a:buClr>
                <a:srgbClr val="17365D"/>
              </a:buClr>
              <a:buSzPts val="2000"/>
              <a:buFont typeface="Arial"/>
              <a:buNone/>
            </a:pPr>
            <a:endParaRPr sz="2000" b="1" i="0" u="none" strike="noStrike" cap="none" dirty="0">
              <a:solidFill>
                <a:srgbClr val="17365D"/>
              </a:solidFill>
              <a:latin typeface="Cambria" panose="02040503050406030204" pitchFamily="18" charset="0"/>
              <a:ea typeface="Cambria" panose="02040503050406030204" pitchFamily="18" charset="0"/>
              <a:cs typeface="Verdana"/>
              <a:sym typeface="Verdana"/>
            </a:endParaRPr>
          </a:p>
        </p:txBody>
      </p:sp>
      <p:graphicFrame>
        <p:nvGraphicFramePr>
          <p:cNvPr id="89" name="Google Shape;89;p13"/>
          <p:cNvGraphicFramePr/>
          <p:nvPr>
            <p:extLst>
              <p:ext uri="{D42A27DB-BD31-4B8C-83A1-F6EECF244321}">
                <p14:modId xmlns:p14="http://schemas.microsoft.com/office/powerpoint/2010/main" xmlns="" val="886409593"/>
              </p:ext>
            </p:extLst>
          </p:nvPr>
        </p:nvGraphicFramePr>
        <p:xfrm>
          <a:off x="553347" y="2721840"/>
          <a:ext cx="5418675" cy="3017580"/>
        </p:xfrm>
        <a:graphic>
          <a:graphicData uri="http://schemas.openxmlformats.org/drawingml/2006/table">
            <a:tbl>
              <a:tblPr firstRow="1" bandRow="1">
                <a:noFill/>
                <a:tableStyleId>{57690726-49DA-4552-BDEB-330DD8EA8BD9}</a:tableStyleId>
              </a:tblPr>
              <a:tblGrid>
                <a:gridCol w="2085000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3333675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</a:tblGrid>
              <a:tr h="306243">
                <a:tc>
                  <a:txBody>
                    <a:bodyPr/>
                    <a:lstStyle/>
                    <a:p>
                      <a:pPr marL="0" marR="0" lvl="1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 b="1" u="none" strike="noStrike" cap="none" dirty="0">
                          <a:solidFill>
                            <a:srgbClr val="17365D"/>
                          </a:solidFill>
                        </a:rPr>
                        <a:t>Roll </a:t>
                      </a:r>
                      <a:r>
                        <a:rPr lang="en-GB" sz="1800" b="1" u="none" strike="noStrike" cap="none" dirty="0" smtClean="0">
                          <a:solidFill>
                            <a:srgbClr val="17365D"/>
                          </a:solidFill>
                        </a:rPr>
                        <a:t>Number</a:t>
                      </a:r>
                    </a:p>
                    <a:p>
                      <a:pPr marL="0" marR="0" lvl="1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 b="1" u="none" strike="noStrike" cap="none" dirty="0" smtClean="0">
                          <a:solidFill>
                            <a:srgbClr val="17365D"/>
                          </a:solidFill>
                        </a:rPr>
                        <a:t>20221IST0055</a:t>
                      </a:r>
                    </a:p>
                    <a:p>
                      <a:pPr marL="0" marR="0" lvl="1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 b="1" u="none" strike="noStrike" cap="none" dirty="0" smtClean="0">
                          <a:solidFill>
                            <a:srgbClr val="17365D"/>
                          </a:solidFill>
                        </a:rPr>
                        <a:t>20221IST0069</a:t>
                      </a:r>
                    </a:p>
                    <a:p>
                      <a:pPr marL="0" marR="0" lvl="1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 b="1" u="none" strike="noStrike" cap="none" dirty="0" smtClean="0">
                          <a:solidFill>
                            <a:srgbClr val="17365D"/>
                          </a:solidFill>
                        </a:rPr>
                        <a:t>20221IST0112</a:t>
                      </a: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 b="1" u="none" strike="noStrike" cap="none" dirty="0">
                          <a:solidFill>
                            <a:srgbClr val="17365D"/>
                          </a:solidFill>
                        </a:rPr>
                        <a:t>Student </a:t>
                      </a:r>
                      <a:r>
                        <a:rPr lang="en-GB" sz="1800" b="1" u="none" strike="noStrike" cap="none" dirty="0" smtClean="0">
                          <a:solidFill>
                            <a:srgbClr val="17365D"/>
                          </a:solidFill>
                        </a:rPr>
                        <a:t>Name</a:t>
                      </a: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 b="1" u="none" strike="noStrike" cap="none" dirty="0" smtClean="0">
                          <a:solidFill>
                            <a:srgbClr val="17365D"/>
                          </a:solidFill>
                        </a:rPr>
                        <a:t>Darshan Gowda S</a:t>
                      </a: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 b="1" u="none" strike="noStrike" cap="none" dirty="0" smtClean="0">
                          <a:solidFill>
                            <a:srgbClr val="17365D"/>
                          </a:solidFill>
                        </a:rPr>
                        <a:t>Chethan</a:t>
                      </a:r>
                      <a:r>
                        <a:rPr lang="en-GB" sz="1800" b="1" u="none" strike="noStrike" cap="none" baseline="0" dirty="0" smtClean="0">
                          <a:solidFill>
                            <a:srgbClr val="17365D"/>
                          </a:solidFill>
                        </a:rPr>
                        <a:t> C</a:t>
                      </a: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 b="1" u="none" strike="noStrike" cap="none" baseline="0" dirty="0" smtClean="0">
                          <a:solidFill>
                            <a:srgbClr val="17365D"/>
                          </a:solidFill>
                        </a:rPr>
                        <a:t>Chirag Gowda S V</a:t>
                      </a:r>
                      <a:endParaRPr sz="1800" b="1" u="none" strike="noStrike" cap="none" dirty="0">
                        <a:solidFill>
                          <a:srgbClr val="17365D"/>
                        </a:solidFill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306243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+mj-lt"/>
                        <a:buNone/>
                      </a:pPr>
                      <a:endParaRPr sz="1800" u="none" strike="noStrike" cap="none" dirty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 dirty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306243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 dirty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 dirty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306243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 dirty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 dirty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  <a:tr h="306243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 dirty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 dirty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4"/>
                  </a:ext>
                </a:extLst>
              </a:tr>
              <a:tr h="306243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 dirty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 dirty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5"/>
                  </a:ext>
                </a:extLst>
              </a:tr>
            </a:tbl>
          </a:graphicData>
        </a:graphic>
      </p:graphicFrame>
      <p:sp>
        <p:nvSpPr>
          <p:cNvPr id="91" name="Google Shape;91;p13"/>
          <p:cNvSpPr txBox="1"/>
          <p:nvPr/>
        </p:nvSpPr>
        <p:spPr>
          <a:xfrm>
            <a:off x="2832225" y="136441"/>
            <a:ext cx="5498973" cy="7293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ct val="100000"/>
              <a:buFont typeface="Arial"/>
              <a:buNone/>
            </a:pPr>
            <a:r>
              <a:rPr lang="en-GB" sz="1800" b="1" dirty="0" smtClean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CSE7101-</a:t>
            </a:r>
            <a:r>
              <a:rPr lang="en-GB" sz="1800" b="1" i="0" u="none" strike="noStrike" cap="none" dirty="0" smtClean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 Capstone Project</a:t>
            </a:r>
            <a:endParaRPr sz="18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ctr" rtl="0">
              <a:spcBef>
                <a:spcPts val="310"/>
              </a:spcBef>
              <a:spcAft>
                <a:spcPts val="0"/>
              </a:spcAft>
              <a:buClr>
                <a:srgbClr val="17365D"/>
              </a:buClr>
              <a:buSzPct val="100000"/>
              <a:buFont typeface="Arial"/>
              <a:buNone/>
            </a:pPr>
            <a:r>
              <a:rPr lang="en-GB" sz="1800" b="1" i="0" u="none" strike="noStrike" cap="none" dirty="0" smtClean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Review-1</a:t>
            </a:r>
            <a:endParaRPr sz="1800" b="1" i="0" u="none" strike="noStrike" cap="none" dirty="0">
              <a:solidFill>
                <a:srgbClr val="17365D"/>
              </a:solidFill>
              <a:latin typeface="Cambria" panose="02040503050406030204" pitchFamily="18" charset="0"/>
              <a:ea typeface="Cambria" panose="02040503050406030204" pitchFamily="18" charset="0"/>
              <a:cs typeface="Verdana"/>
              <a:sym typeface="Verdana"/>
            </a:endParaRPr>
          </a:p>
        </p:txBody>
      </p:sp>
      <p:sp>
        <p:nvSpPr>
          <p:cNvPr id="8" name="Google Shape;91;p13"/>
          <p:cNvSpPr txBox="1"/>
          <p:nvPr/>
        </p:nvSpPr>
        <p:spPr>
          <a:xfrm>
            <a:off x="0" y="4533900"/>
            <a:ext cx="12249915" cy="156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ct val="100000"/>
              <a:buFont typeface="Arial"/>
              <a:buNone/>
            </a:pPr>
            <a:r>
              <a:rPr lang="en-US" sz="1800" b="1" i="0" u="none" strike="noStrike" cap="none" dirty="0" smtClean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Name of the Program: Capstone Project(CSE7101)</a:t>
            </a:r>
          </a:p>
          <a:p>
            <a:pPr marL="0" marR="0" lvl="0" indent="0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ct val="100000"/>
              <a:buFont typeface="Arial"/>
              <a:buNone/>
            </a:pPr>
            <a:r>
              <a:rPr lang="en-US" sz="1800" b="1" dirty="0" smtClean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Name of the HoD: </a:t>
            </a:r>
            <a:r>
              <a:rPr lang="en-US" sz="1800" b="1" dirty="0" smtClean="0">
                <a:solidFill>
                  <a:srgbClr val="FF0000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Dr. Pallavi R</a:t>
            </a:r>
          </a:p>
          <a:p>
            <a:pPr lvl="0">
              <a:buClr>
                <a:srgbClr val="17365D"/>
              </a:buClr>
              <a:buSzPct val="100000"/>
            </a:pPr>
            <a:r>
              <a:rPr lang="en-US" sz="1800" b="1" i="0" u="none" strike="noStrike" cap="none" dirty="0" smtClean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Name of the Program Project Coordinator: </a:t>
            </a:r>
            <a:r>
              <a:rPr lang="en-US" sz="1800" b="1" dirty="0" smtClean="0">
                <a:solidFill>
                  <a:srgbClr val="FF0000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Ms. Benitha Christinal J</a:t>
            </a:r>
          </a:p>
          <a:p>
            <a:pPr lvl="0">
              <a:buClr>
                <a:srgbClr val="17365D"/>
              </a:buClr>
              <a:buSzPct val="100000"/>
            </a:pPr>
            <a:r>
              <a:rPr lang="en-US" sz="1800" b="1" dirty="0" smtClean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Name of the School Project Coordinators: </a:t>
            </a:r>
            <a:r>
              <a:rPr lang="en-US" sz="1800" b="1" i="0" u="none" strike="noStrike" cap="none" dirty="0" smtClean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Dr. </a:t>
            </a:r>
            <a:r>
              <a:rPr lang="en-US" sz="1800" b="1" i="0" u="none" strike="noStrike" cap="none" dirty="0" err="1" smtClean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Sampath</a:t>
            </a:r>
            <a:r>
              <a:rPr lang="en-US" sz="1800" b="1" i="0" u="none" strike="noStrike" cap="none" dirty="0" smtClean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 A K , Dr. </a:t>
            </a:r>
            <a:r>
              <a:rPr lang="en-US" sz="1800" b="1" i="0" u="none" strike="noStrike" cap="none" dirty="0" err="1" smtClean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Geetha</a:t>
            </a:r>
            <a:r>
              <a:rPr lang="en-US" sz="1800" b="1" i="0" u="none" strike="noStrike" cap="none" dirty="0" smtClean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 A </a:t>
            </a:r>
            <a:endParaRPr sz="1800" b="1" i="0" u="none" strike="noStrike" cap="none" dirty="0">
              <a:solidFill>
                <a:schemeClr val="tx1"/>
              </a:solidFill>
              <a:latin typeface="Cambria" panose="02040503050406030204" pitchFamily="18" charset="0"/>
              <a:ea typeface="Cambria" panose="02040503050406030204" pitchFamily="18" charset="0"/>
              <a:cs typeface="Verdana"/>
              <a:sym typeface="Verdan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4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800"/>
              <a:buFont typeface="Verdana"/>
              <a:buNone/>
            </a:pPr>
            <a:r>
              <a:rPr lang="en-GB" dirty="0" smtClean="0">
                <a:latin typeface="Cambria" panose="02040503050406030204" pitchFamily="18" charset="0"/>
                <a:ea typeface="Cambria" panose="02040503050406030204" pitchFamily="18" charset="0"/>
              </a:rPr>
              <a:t>Problem Statement Number:PSCS_3 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97" name="Google Shape;97;p14"/>
          <p:cNvSpPr txBox="1">
            <a:spLocks noGrp="1"/>
          </p:cNvSpPr>
          <p:nvPr>
            <p:ph type="body" idx="1"/>
          </p:nvPr>
        </p:nvSpPr>
        <p:spPr>
          <a:xfrm>
            <a:off x="812800" y="1143001"/>
            <a:ext cx="10668000" cy="49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lvl="0" indent="-190500" algn="just">
              <a:spcBef>
                <a:spcPts val="0"/>
              </a:spcBef>
              <a:buNone/>
            </a:pPr>
            <a:r>
              <a:rPr lang="en-US" dirty="0" smtClean="0">
                <a:latin typeface="Cambria" panose="02040503050406030204" pitchFamily="18" charset="0"/>
                <a:ea typeface="Cambria" panose="02040503050406030204" pitchFamily="18" charset="0"/>
              </a:rPr>
              <a:t>Organization: </a:t>
            </a:r>
            <a:r>
              <a:rPr lang="en-US" b="1" dirty="0" smtClean="0">
                <a:latin typeface="Cambria" pitchFamily="18" charset="0"/>
                <a:ea typeface="Cambria" pitchFamily="18" charset="0"/>
              </a:rPr>
              <a:t>AICTE, MIC-Student Innovation</a:t>
            </a:r>
            <a:endParaRPr lang="en-US" b="1" dirty="0" smtClean="0">
              <a:latin typeface="Cambria" pitchFamily="18" charset="0"/>
              <a:ea typeface="Cambria" pitchFamily="18" charset="0"/>
            </a:endParaRPr>
          </a:p>
          <a:p>
            <a:pPr marL="342900" lvl="0" indent="-190500" algn="just">
              <a:lnSpc>
                <a:spcPct val="200000"/>
              </a:lnSpc>
              <a:spcBef>
                <a:spcPts val="0"/>
              </a:spcBef>
              <a:buNone/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Category </a:t>
            </a:r>
            <a:r>
              <a:rPr lang="en-US" dirty="0" smtClean="0">
                <a:latin typeface="Cambria" panose="02040503050406030204" pitchFamily="18" charset="0"/>
                <a:ea typeface="Cambria" panose="02040503050406030204" pitchFamily="18" charset="0"/>
              </a:rPr>
              <a:t> : </a:t>
            </a:r>
            <a:r>
              <a:rPr lang="en-US" b="1" dirty="0" smtClean="0">
                <a:latin typeface="Cambria" panose="02040503050406030204" pitchFamily="18" charset="0"/>
                <a:ea typeface="Cambria" panose="02040503050406030204" pitchFamily="18" charset="0"/>
              </a:rPr>
              <a:t>Software</a:t>
            </a:r>
            <a:endParaRPr lang="en-US" b="1" dirty="0" smtClean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lvl="0" indent="-190500" algn="just">
              <a:spcBef>
                <a:spcPts val="600"/>
              </a:spcBef>
              <a:buNone/>
            </a:pPr>
            <a:r>
              <a:rPr lang="en-US" b="1" dirty="0">
                <a:latin typeface="Cambria" panose="02040503050406030204" pitchFamily="18" charset="0"/>
                <a:ea typeface="Cambria" panose="02040503050406030204" pitchFamily="18" charset="0"/>
              </a:rPr>
              <a:t>Problem </a:t>
            </a:r>
            <a:r>
              <a:rPr lang="en-US" b="1" dirty="0" smtClean="0">
                <a:latin typeface="Cambria" panose="02040503050406030204" pitchFamily="18" charset="0"/>
                <a:ea typeface="Cambria" panose="02040503050406030204" pitchFamily="18" charset="0"/>
              </a:rPr>
              <a:t>Description</a:t>
            </a:r>
            <a:r>
              <a:rPr lang="en-US" dirty="0" smtClean="0">
                <a:latin typeface="Cambria" panose="02040503050406030204" pitchFamily="18" charset="0"/>
                <a:ea typeface="Cambria" panose="02040503050406030204" pitchFamily="18" charset="0"/>
              </a:rPr>
              <a:t>: </a:t>
            </a:r>
            <a:r>
              <a:rPr lang="en-US" dirty="0" smtClean="0">
                <a:latin typeface="Cambria" pitchFamily="18" charset="0"/>
                <a:ea typeface="Cambria" pitchFamily="18" charset="0"/>
              </a:rPr>
              <a:t>Developing solutions, keeping </a:t>
            </a:r>
            <a:r>
              <a:rPr lang="en-US" dirty="0" smtClean="0">
                <a:latin typeface="Cambria" pitchFamily="18" charset="0"/>
                <a:ea typeface="Cambria" pitchFamily="18" charset="0"/>
              </a:rPr>
              <a:t>in mind the need </a:t>
            </a:r>
            <a:r>
              <a:rPr lang="en-US" dirty="0" smtClean="0">
                <a:latin typeface="Cambria" pitchFamily="18" charset="0"/>
                <a:ea typeface="Cambria" pitchFamily="18" charset="0"/>
              </a:rPr>
              <a:t>to enhance </a:t>
            </a:r>
            <a:r>
              <a:rPr lang="en-US" dirty="0" smtClean="0">
                <a:latin typeface="Cambria" pitchFamily="18" charset="0"/>
                <a:ea typeface="Cambria" pitchFamily="18" charset="0"/>
              </a:rPr>
              <a:t>the primary sector of India - Agriculture and to manage and process our agriculture produce</a:t>
            </a:r>
            <a:endParaRPr lang="en-US" dirty="0" smtClean="0">
              <a:latin typeface="Cambria" pitchFamily="18" charset="0"/>
              <a:ea typeface="Cambria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214345183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4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800"/>
              <a:buFont typeface="Verdana"/>
              <a:buNone/>
            </a:pPr>
            <a:r>
              <a:rPr lang="en-GB" dirty="0" smtClean="0">
                <a:latin typeface="Cambria" panose="02040503050406030204" pitchFamily="18" charset="0"/>
                <a:ea typeface="Cambria" panose="02040503050406030204" pitchFamily="18" charset="0"/>
              </a:rPr>
              <a:t>Content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97" name="Google Shape;97;p14"/>
          <p:cNvSpPr txBox="1">
            <a:spLocks noGrp="1"/>
          </p:cNvSpPr>
          <p:nvPr>
            <p:ph type="body" idx="1"/>
          </p:nvPr>
        </p:nvSpPr>
        <p:spPr>
          <a:xfrm>
            <a:off x="655782" y="1466273"/>
            <a:ext cx="10668000" cy="39242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70000" lnSpcReduction="20000"/>
          </a:bodyPr>
          <a:lstStyle/>
          <a:p>
            <a:pPr marL="495300" indent="-342900" algn="just">
              <a:lnSpc>
                <a:spcPct val="2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dirty="0" smtClean="0">
                <a:latin typeface="Cambria" panose="02040503050406030204" pitchFamily="18" charset="0"/>
                <a:ea typeface="Cambria" panose="02040503050406030204" pitchFamily="18" charset="0"/>
              </a:rPr>
              <a:t>Problem Statement</a:t>
            </a:r>
          </a:p>
          <a:p>
            <a:pPr marL="495300" indent="-342900" algn="just">
              <a:lnSpc>
                <a:spcPct val="2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dirty="0" smtClean="0">
                <a:latin typeface="Cambria" panose="02040503050406030204" pitchFamily="18" charset="0"/>
                <a:ea typeface="Cambria" panose="02040503050406030204" pitchFamily="18" charset="0"/>
              </a:rPr>
              <a:t>Objectives</a:t>
            </a:r>
          </a:p>
          <a:p>
            <a:pPr marL="495300" indent="-342900" algn="just">
              <a:lnSpc>
                <a:spcPct val="2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dirty="0" smtClean="0">
                <a:latin typeface="Cambria" panose="02040503050406030204" pitchFamily="18" charset="0"/>
                <a:ea typeface="Cambria" panose="02040503050406030204" pitchFamily="18" charset="0"/>
              </a:rPr>
              <a:t>Background and Related work for title Selection</a:t>
            </a:r>
          </a:p>
          <a:p>
            <a:pPr marL="495300" lvl="0" indent="-342900" algn="just">
              <a:lnSpc>
                <a:spcPct val="2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Analysis of Problem </a:t>
            </a:r>
            <a:r>
              <a:rPr lang="en-US" dirty="0" smtClean="0">
                <a:latin typeface="Cambria" panose="02040503050406030204" pitchFamily="18" charset="0"/>
                <a:ea typeface="Cambria" panose="02040503050406030204" pitchFamily="18" charset="0"/>
              </a:rPr>
              <a:t>Statement</a:t>
            </a:r>
          </a:p>
          <a:p>
            <a:pPr marL="495300" lvl="0" indent="-342900" algn="just">
              <a:lnSpc>
                <a:spcPct val="2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dirty="0" smtClean="0">
                <a:latin typeface="Cambria" panose="02040503050406030204" pitchFamily="18" charset="0"/>
                <a:ea typeface="Cambria" panose="02040503050406030204" pitchFamily="18" charset="0"/>
              </a:rPr>
              <a:t>Innovation 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or Novel Contributions</a:t>
            </a:r>
            <a:endParaRPr lang="en-US" sz="32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495300" indent="-342900" algn="just">
              <a:lnSpc>
                <a:spcPct val="2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dirty="0" err="1" smtClean="0">
                <a:latin typeface="Cambria" panose="02040503050406030204" pitchFamily="18" charset="0"/>
                <a:ea typeface="Cambria" panose="02040503050406030204" pitchFamily="18" charset="0"/>
              </a:rPr>
              <a:t>Git</a:t>
            </a:r>
            <a:r>
              <a:rPr lang="en-US" dirty="0" smtClean="0">
                <a:latin typeface="Cambria" panose="02040503050406030204" pitchFamily="18" charset="0"/>
                <a:ea typeface="Cambria" panose="02040503050406030204" pitchFamily="18" charset="0"/>
              </a:rPr>
              <a:t>-hub Link</a:t>
            </a: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495300" lvl="0" indent="-3429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 pitchFamily="34" charset="0"/>
              <a:buChar char="•"/>
            </a:pPr>
            <a:r>
              <a:rPr lang="en-US" dirty="0" smtClean="0">
                <a:latin typeface="Cambria" panose="02040503050406030204" pitchFamily="18" charset="0"/>
                <a:ea typeface="Cambria" panose="02040503050406030204" pitchFamily="18" charset="0"/>
              </a:rPr>
              <a:t>Timeline of the Project</a:t>
            </a:r>
          </a:p>
          <a:p>
            <a:pPr marL="495300" lvl="0" indent="-3429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 pitchFamily="34" charset="0"/>
              <a:buChar char="•"/>
            </a:pPr>
            <a:r>
              <a:rPr lang="en-US" dirty="0" smtClean="0">
                <a:latin typeface="Cambria" panose="02040503050406030204" pitchFamily="18" charset="0"/>
                <a:ea typeface="Cambria" panose="02040503050406030204" pitchFamily="18" charset="0"/>
              </a:rPr>
              <a:t>References</a:t>
            </a:r>
          </a:p>
          <a:p>
            <a:pPr marL="495300" lvl="0" indent="-3429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ingdings" panose="05000000000000000000" pitchFamily="2" charset="2"/>
              <a:buChar char="Ø"/>
            </a:pPr>
            <a:endParaRPr lang="en-US" dirty="0" smtClean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495300" lvl="0" indent="-3429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ingdings" panose="05000000000000000000" pitchFamily="2" charset="2"/>
              <a:buChar char="Ø"/>
            </a:pPr>
            <a:endParaRPr lang="en-US" dirty="0" smtClean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495300" lvl="0" indent="-3429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ingdings" panose="05000000000000000000" pitchFamily="2" charset="2"/>
              <a:buChar char="Ø"/>
            </a:pP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7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152400" lvl="0">
              <a:lnSpc>
                <a:spcPct val="200000"/>
              </a:lnSpc>
            </a:pPr>
            <a:r>
              <a:rPr lang="en-US" dirty="0" smtClean="0">
                <a:latin typeface="Cambria" panose="02040503050406030204" pitchFamily="18" charset="0"/>
                <a:ea typeface="Cambria" panose="02040503050406030204" pitchFamily="18" charset="0"/>
              </a:rPr>
              <a:t>Analysis 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of Problem Statement</a:t>
            </a:r>
          </a:p>
        </p:txBody>
      </p:sp>
      <p:sp>
        <p:nvSpPr>
          <p:cNvPr id="115" name="Google Shape;115;p17"/>
          <p:cNvSpPr txBox="1">
            <a:spLocks noGrp="1"/>
          </p:cNvSpPr>
          <p:nvPr>
            <p:ph type="body" idx="1"/>
          </p:nvPr>
        </p:nvSpPr>
        <p:spPr>
          <a:xfrm>
            <a:off x="812800" y="1143000"/>
            <a:ext cx="10668000" cy="49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lvl="0" indent="-19050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dirty="0" smtClean="0">
                <a:latin typeface="Cambria" panose="02040503050406030204" pitchFamily="18" charset="0"/>
                <a:ea typeface="Cambria" panose="02040503050406030204" pitchFamily="18" charset="0"/>
              </a:rPr>
              <a:t>Technology Stack Components</a:t>
            </a:r>
            <a:r>
              <a:rPr lang="en-US" dirty="0" smtClean="0">
                <a:latin typeface="Cambria" panose="02040503050406030204" pitchFamily="18" charset="0"/>
                <a:ea typeface="Cambria" panose="02040503050406030204" pitchFamily="18" charset="0"/>
              </a:rPr>
              <a:t>:</a:t>
            </a:r>
          </a:p>
          <a:p>
            <a:pPr marL="342900" lvl="0" indent="-19050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lang="en-US" dirty="0" smtClean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lvl="0" indent="-19050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lang="en-US" dirty="0" smtClean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lvl="0" indent="-19050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lvl="0" indent="-19050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lang="en-US" dirty="0" smtClean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lvl="0" indent="-1905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lang="en-US" dirty="0" smtClean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lvl="0" indent="-1905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lang="en-US" dirty="0" smtClean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lvl="0" indent="-1905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2310295" y="1952117"/>
          <a:ext cx="8127999" cy="4082511"/>
        </p:xfrm>
        <a:graphic>
          <a:graphicData uri="http://schemas.openxmlformats.org/drawingml/2006/table">
            <a:tbl>
              <a:tblPr firstRow="1" bandRow="1"/>
              <a:tblGrid>
                <a:gridCol w="2709333"/>
                <a:gridCol w="2709333"/>
                <a:gridCol w="2709333"/>
              </a:tblGrid>
              <a:tr h="577311">
                <a:tc>
                  <a:txBody>
                    <a:bodyPr/>
                    <a:lstStyle/>
                    <a:p>
                      <a:pPr algn="l"/>
                      <a:r>
                        <a:rPr lang="en-US" sz="1500" b="1" dirty="0" smtClean="0">
                          <a:solidFill>
                            <a:schemeClr val="tx1"/>
                          </a:solidFill>
                          <a:latin typeface="Cambria" pitchFamily="18" charset="0"/>
                          <a:ea typeface="Cambria" pitchFamily="18" charset="0"/>
                        </a:rPr>
                        <a:t>Component</a:t>
                      </a:r>
                      <a:endParaRPr lang="en-US" sz="1500" b="1" dirty="0">
                        <a:solidFill>
                          <a:schemeClr val="tx1"/>
                        </a:solidFill>
                        <a:latin typeface="Cambria" pitchFamily="18" charset="0"/>
                        <a:ea typeface="Cambria" pitchFamily="18" charset="0"/>
                      </a:endParaRPr>
                    </a:p>
                  </a:txBody>
                  <a:tcPr marR="63500" marT="63500" marB="6350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b="1">
                          <a:solidFill>
                            <a:schemeClr val="tx1"/>
                          </a:solidFill>
                          <a:latin typeface="Cambria" pitchFamily="18" charset="0"/>
                          <a:ea typeface="Cambria" pitchFamily="18" charset="0"/>
                        </a:rPr>
                        <a:t>Specific Technology / Library</a:t>
                      </a:r>
                    </a:p>
                  </a:txBody>
                  <a:tcPr marL="63500" marR="63500" marT="63500" marB="6350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b="1" dirty="0">
                          <a:solidFill>
                            <a:schemeClr val="tx1"/>
                          </a:solidFill>
                          <a:latin typeface="Cambria" pitchFamily="18" charset="0"/>
                          <a:ea typeface="Cambria" pitchFamily="18" charset="0"/>
                        </a:rPr>
                        <a:t>Primary Use Case</a:t>
                      </a:r>
                    </a:p>
                  </a:txBody>
                  <a:tcPr marL="63500" marR="63500" marT="63500" marB="63500" anchor="ctr"/>
                </a:tc>
              </a:tr>
              <a:tr h="577311">
                <a:tc>
                  <a:txBody>
                    <a:bodyPr/>
                    <a:lstStyle/>
                    <a:p>
                      <a:r>
                        <a:rPr lang="en-US" sz="1500" b="1">
                          <a:solidFill>
                            <a:schemeClr val="tx1"/>
                          </a:solidFill>
                          <a:latin typeface="Cambria" pitchFamily="18" charset="0"/>
                          <a:ea typeface="Cambria" pitchFamily="18" charset="0"/>
                        </a:rPr>
                        <a:t>Core Framework</a:t>
                      </a:r>
                      <a:endParaRPr lang="en-US" sz="1500">
                        <a:solidFill>
                          <a:schemeClr val="tx1"/>
                        </a:solidFill>
                        <a:latin typeface="Cambria" pitchFamily="18" charset="0"/>
                        <a:ea typeface="Cambria" pitchFamily="18" charset="0"/>
                      </a:endParaRPr>
                    </a:p>
                  </a:txBody>
                  <a:tcPr marR="63500" marT="63500" marB="63500" anchor="ctr"/>
                </a:tc>
                <a:tc>
                  <a:txBody>
                    <a:bodyPr/>
                    <a:lstStyle/>
                    <a:p>
                      <a:r>
                        <a:rPr lang="en-US" sz="1500">
                          <a:solidFill>
                            <a:schemeClr val="tx1"/>
                          </a:solidFill>
                          <a:latin typeface="Cambria" pitchFamily="18" charset="0"/>
                          <a:ea typeface="Cambria" pitchFamily="18" charset="0"/>
                        </a:rPr>
                        <a:t>TensorFlow &amp; Keras</a:t>
                      </a:r>
                    </a:p>
                  </a:txBody>
                  <a:tcPr marL="63500" marR="63500" marT="63500" marB="63500" anchor="ctr"/>
                </a:tc>
                <a:tc>
                  <a:txBody>
                    <a:bodyPr/>
                    <a:lstStyle/>
                    <a:p>
                      <a:r>
                        <a:rPr lang="en-US" sz="1500">
                          <a:solidFill>
                            <a:schemeClr val="tx1"/>
                          </a:solidFill>
                          <a:latin typeface="Cambria" pitchFamily="18" charset="0"/>
                          <a:ea typeface="Cambria" pitchFamily="18" charset="0"/>
                        </a:rPr>
                        <a:t>Model development, training, and deployment</a:t>
                      </a:r>
                    </a:p>
                  </a:txBody>
                  <a:tcPr marL="63500" marR="63500" marT="63500" marB="63500" anchor="ctr"/>
                </a:tc>
              </a:tr>
              <a:tr h="577311">
                <a:tc>
                  <a:txBody>
                    <a:bodyPr/>
                    <a:lstStyle/>
                    <a:p>
                      <a:r>
                        <a:rPr lang="en-US" sz="1500" b="1">
                          <a:solidFill>
                            <a:schemeClr val="tx1"/>
                          </a:solidFill>
                          <a:latin typeface="Cambria" pitchFamily="18" charset="0"/>
                          <a:ea typeface="Cambria" pitchFamily="18" charset="0"/>
                        </a:rPr>
                        <a:t>Programming Language</a:t>
                      </a:r>
                      <a:endParaRPr lang="en-US" sz="1500">
                        <a:solidFill>
                          <a:schemeClr val="tx1"/>
                        </a:solidFill>
                        <a:latin typeface="Cambria" pitchFamily="18" charset="0"/>
                        <a:ea typeface="Cambria" pitchFamily="18" charset="0"/>
                      </a:endParaRPr>
                    </a:p>
                  </a:txBody>
                  <a:tcPr marR="63500" marT="63500" marB="63500" anchor="ctr"/>
                </a:tc>
                <a:tc>
                  <a:txBody>
                    <a:bodyPr/>
                    <a:lstStyle/>
                    <a:p>
                      <a:r>
                        <a:rPr lang="en-US" sz="1500">
                          <a:solidFill>
                            <a:schemeClr val="tx1"/>
                          </a:solidFill>
                          <a:latin typeface="Cambria" pitchFamily="18" charset="0"/>
                          <a:ea typeface="Cambria" pitchFamily="18" charset="0"/>
                        </a:rPr>
                        <a:t>Python 3</a:t>
                      </a:r>
                    </a:p>
                  </a:txBody>
                  <a:tcPr marL="63500" marR="63500" marT="63500" marB="63500" anchor="ctr"/>
                </a:tc>
                <a:tc>
                  <a:txBody>
                    <a:bodyPr/>
                    <a:lstStyle/>
                    <a:p>
                      <a:r>
                        <a:rPr lang="en-US" sz="1500">
                          <a:solidFill>
                            <a:schemeClr val="tx1"/>
                          </a:solidFill>
                          <a:latin typeface="Cambria" pitchFamily="18" charset="0"/>
                          <a:ea typeface="Cambria" pitchFamily="18" charset="0"/>
                        </a:rPr>
                        <a:t>Main language for all development and scripting</a:t>
                      </a:r>
                    </a:p>
                  </a:txBody>
                  <a:tcPr marL="63500" marR="63500" marT="63500" marB="63500" anchor="ctr"/>
                </a:tc>
              </a:tr>
              <a:tr h="577311">
                <a:tc>
                  <a:txBody>
                    <a:bodyPr/>
                    <a:lstStyle/>
                    <a:p>
                      <a:r>
                        <a:rPr lang="en-US" sz="1500" b="1">
                          <a:solidFill>
                            <a:schemeClr val="tx1"/>
                          </a:solidFill>
                          <a:latin typeface="Cambria" pitchFamily="18" charset="0"/>
                          <a:ea typeface="Cambria" pitchFamily="18" charset="0"/>
                        </a:rPr>
                        <a:t>Computer Vision</a:t>
                      </a:r>
                      <a:endParaRPr lang="en-US" sz="1500">
                        <a:solidFill>
                          <a:schemeClr val="tx1"/>
                        </a:solidFill>
                        <a:latin typeface="Cambria" pitchFamily="18" charset="0"/>
                        <a:ea typeface="Cambria" pitchFamily="18" charset="0"/>
                      </a:endParaRPr>
                    </a:p>
                  </a:txBody>
                  <a:tcPr marR="63500" marT="63500" marB="63500" anchor="ctr"/>
                </a:tc>
                <a:tc>
                  <a:txBody>
                    <a:bodyPr/>
                    <a:lstStyle/>
                    <a:p>
                      <a:r>
                        <a:rPr lang="en-US" sz="1500">
                          <a:solidFill>
                            <a:schemeClr val="tx1"/>
                          </a:solidFill>
                          <a:latin typeface="Cambria" pitchFamily="18" charset="0"/>
                          <a:ea typeface="Cambria" pitchFamily="18" charset="0"/>
                        </a:rPr>
                        <a:t>OpenCV, PIL (Pillow)</a:t>
                      </a:r>
                    </a:p>
                  </a:txBody>
                  <a:tcPr marL="63500" marR="63500" marT="63500" marB="63500" anchor="ctr"/>
                </a:tc>
                <a:tc>
                  <a:txBody>
                    <a:bodyPr/>
                    <a:lstStyle/>
                    <a:p>
                      <a:r>
                        <a:rPr lang="en-US" sz="1500">
                          <a:solidFill>
                            <a:schemeClr val="tx1"/>
                          </a:solidFill>
                          <a:latin typeface="Cambria" pitchFamily="18" charset="0"/>
                          <a:ea typeface="Cambria" pitchFamily="18" charset="0"/>
                        </a:rPr>
                        <a:t>Image loading, preprocessing, and augmentation</a:t>
                      </a:r>
                    </a:p>
                  </a:txBody>
                  <a:tcPr marL="63500" marR="63500" marT="63500" marB="63500" anchor="ctr"/>
                </a:tc>
              </a:tr>
              <a:tr h="577311">
                <a:tc>
                  <a:txBody>
                    <a:bodyPr/>
                    <a:lstStyle/>
                    <a:p>
                      <a:r>
                        <a:rPr lang="en-US" sz="1500" b="1">
                          <a:solidFill>
                            <a:schemeClr val="tx1"/>
                          </a:solidFill>
                          <a:latin typeface="Cambria" pitchFamily="18" charset="0"/>
                          <a:ea typeface="Cambria" pitchFamily="18" charset="0"/>
                        </a:rPr>
                        <a:t>Model Explainability (XAI)</a:t>
                      </a:r>
                      <a:endParaRPr lang="en-US" sz="1500">
                        <a:solidFill>
                          <a:schemeClr val="tx1"/>
                        </a:solidFill>
                        <a:latin typeface="Cambria" pitchFamily="18" charset="0"/>
                        <a:ea typeface="Cambria" pitchFamily="18" charset="0"/>
                      </a:endParaRPr>
                    </a:p>
                  </a:txBody>
                  <a:tcPr marR="63500" marT="63500" marB="63500" anchor="ctr"/>
                </a:tc>
                <a:tc>
                  <a:txBody>
                    <a:bodyPr/>
                    <a:lstStyle/>
                    <a:p>
                      <a:r>
                        <a:rPr lang="en-US" sz="1500">
                          <a:solidFill>
                            <a:schemeClr val="tx1"/>
                          </a:solidFill>
                          <a:latin typeface="Cambria" pitchFamily="18" charset="0"/>
                          <a:ea typeface="Cambria" pitchFamily="18" charset="0"/>
                        </a:rPr>
                        <a:t>Grad-CAM (via TF), LIME</a:t>
                      </a:r>
                    </a:p>
                  </a:txBody>
                  <a:tcPr marL="63500" marR="63500" marT="63500" marB="63500" anchor="ctr"/>
                </a:tc>
                <a:tc>
                  <a:txBody>
                    <a:bodyPr/>
                    <a:lstStyle/>
                    <a:p>
                      <a:r>
                        <a:rPr lang="en-US" sz="1500">
                          <a:solidFill>
                            <a:schemeClr val="tx1"/>
                          </a:solidFill>
                          <a:latin typeface="Cambria" pitchFamily="18" charset="0"/>
                          <a:ea typeface="Cambria" pitchFamily="18" charset="0"/>
                        </a:rPr>
                        <a:t>Generating visual explanations for model predictions</a:t>
                      </a:r>
                    </a:p>
                  </a:txBody>
                  <a:tcPr marL="63500" marR="63500" marT="63500" marB="63500" anchor="ctr"/>
                </a:tc>
              </a:tr>
              <a:tr h="577311">
                <a:tc>
                  <a:txBody>
                    <a:bodyPr/>
                    <a:lstStyle/>
                    <a:p>
                      <a:r>
                        <a:rPr lang="en-US" sz="1500" b="1">
                          <a:solidFill>
                            <a:schemeClr val="tx1"/>
                          </a:solidFill>
                          <a:latin typeface="Cambria" pitchFamily="18" charset="0"/>
                          <a:ea typeface="Cambria" pitchFamily="18" charset="0"/>
                        </a:rPr>
                        <a:t>Data Science &amp; Evaluation</a:t>
                      </a:r>
                      <a:endParaRPr lang="en-US" sz="1500">
                        <a:solidFill>
                          <a:schemeClr val="tx1"/>
                        </a:solidFill>
                        <a:latin typeface="Cambria" pitchFamily="18" charset="0"/>
                        <a:ea typeface="Cambria" pitchFamily="18" charset="0"/>
                      </a:endParaRPr>
                    </a:p>
                  </a:txBody>
                  <a:tcPr marR="63500" marT="63500" marB="63500" anchor="ctr"/>
                </a:tc>
                <a:tc>
                  <a:txBody>
                    <a:bodyPr/>
                    <a:lstStyle/>
                    <a:p>
                      <a:r>
                        <a:rPr lang="en-US" sz="1500">
                          <a:solidFill>
                            <a:schemeClr val="tx1"/>
                          </a:solidFill>
                          <a:latin typeface="Cambria" pitchFamily="18" charset="0"/>
                          <a:ea typeface="Cambria" pitchFamily="18" charset="0"/>
                        </a:rPr>
                        <a:t>Scikit-learn, NumPy, Pandas</a:t>
                      </a:r>
                    </a:p>
                  </a:txBody>
                  <a:tcPr marL="63500" marR="63500" marT="63500" marB="63500" anchor="ctr"/>
                </a:tc>
                <a:tc>
                  <a:txBody>
                    <a:bodyPr/>
                    <a:lstStyle/>
                    <a:p>
                      <a:r>
                        <a:rPr lang="en-US" sz="1500">
                          <a:solidFill>
                            <a:schemeClr val="tx1"/>
                          </a:solidFill>
                          <a:latin typeface="Cambria" pitchFamily="18" charset="0"/>
                          <a:ea typeface="Cambria" pitchFamily="18" charset="0"/>
                        </a:rPr>
                        <a:t>Metrics calculation, data manipulation, and analysis</a:t>
                      </a:r>
                    </a:p>
                  </a:txBody>
                  <a:tcPr marL="63500" marR="63500" marT="63500" marB="63500" anchor="ctr"/>
                </a:tc>
              </a:tr>
              <a:tr h="577311">
                <a:tc>
                  <a:txBody>
                    <a:bodyPr/>
                    <a:lstStyle/>
                    <a:p>
                      <a:r>
                        <a:rPr lang="en-US" sz="1500" b="1">
                          <a:solidFill>
                            <a:schemeClr val="tx1"/>
                          </a:solidFill>
                          <a:latin typeface="Cambria" pitchFamily="18" charset="0"/>
                          <a:ea typeface="Cambria" pitchFamily="18" charset="0"/>
                        </a:rPr>
                        <a:t>Visualization</a:t>
                      </a:r>
                      <a:endParaRPr lang="en-US" sz="1500">
                        <a:solidFill>
                          <a:schemeClr val="tx1"/>
                        </a:solidFill>
                        <a:latin typeface="Cambria" pitchFamily="18" charset="0"/>
                        <a:ea typeface="Cambria" pitchFamily="18" charset="0"/>
                      </a:endParaRPr>
                    </a:p>
                  </a:txBody>
                  <a:tcPr marR="63500" marT="63500" marB="63500" anchor="ctr"/>
                </a:tc>
                <a:tc>
                  <a:txBody>
                    <a:bodyPr/>
                    <a:lstStyle/>
                    <a:p>
                      <a:r>
                        <a:rPr lang="en-US" sz="1500">
                          <a:solidFill>
                            <a:schemeClr val="tx1"/>
                          </a:solidFill>
                          <a:latin typeface="Cambria" pitchFamily="18" charset="0"/>
                          <a:ea typeface="Cambria" pitchFamily="18" charset="0"/>
                        </a:rPr>
                        <a:t>Matplotlib, Seaborn</a:t>
                      </a:r>
                    </a:p>
                  </a:txBody>
                  <a:tcPr marL="63500" marR="63500" marT="63500" marB="63500" anchor="ctr"/>
                </a:tc>
                <a:tc>
                  <a:txBody>
                    <a:bodyPr/>
                    <a:lstStyle/>
                    <a:p>
                      <a:r>
                        <a:rPr lang="en-US" sz="1500" dirty="0">
                          <a:solidFill>
                            <a:schemeClr val="tx1"/>
                          </a:solidFill>
                          <a:latin typeface="Cambria" pitchFamily="18" charset="0"/>
                          <a:ea typeface="Cambria" pitchFamily="18" charset="0"/>
                        </a:rPr>
                        <a:t>Plotting results, graphs, and confusion matrices</a:t>
                      </a:r>
                    </a:p>
                  </a:txBody>
                  <a:tcPr marL="63500" marR="63500" marT="63500" marB="63500" anchor="ctr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xmlns="" val="103081615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7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152400" lvl="0">
              <a:lnSpc>
                <a:spcPct val="200000"/>
              </a:lnSpc>
            </a:pPr>
            <a:r>
              <a:rPr lang="en-US" dirty="0" smtClean="0">
                <a:latin typeface="Cambria" panose="02040503050406030204" pitchFamily="18" charset="0"/>
                <a:ea typeface="Cambria" panose="02040503050406030204" pitchFamily="18" charset="0"/>
              </a:rPr>
              <a:t>Github Link</a:t>
            </a: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15" name="Google Shape;115;p17"/>
          <p:cNvSpPr txBox="1">
            <a:spLocks noGrp="1"/>
          </p:cNvSpPr>
          <p:nvPr>
            <p:ph type="body" idx="1"/>
          </p:nvPr>
        </p:nvSpPr>
        <p:spPr>
          <a:xfrm>
            <a:off x="812800" y="1143000"/>
            <a:ext cx="10668000" cy="49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lvl="0" indent="-19050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lvl="0" indent="-19050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lang="en-US" dirty="0" smtClean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lvl="0" indent="-1905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lang="en-US" dirty="0" smtClean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lvl="0" indent="-1905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lang="en-US" dirty="0" smtClean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lvl="0" indent="-1905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4" name="Google Shape;115;p17"/>
          <p:cNvSpPr txBox="1">
            <a:spLocks/>
          </p:cNvSpPr>
          <p:nvPr/>
        </p:nvSpPr>
        <p:spPr>
          <a:xfrm>
            <a:off x="965200" y="1295400"/>
            <a:ext cx="10668000" cy="49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L="914400" marR="0" lvl="1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marL="1371600" marR="0" lvl="2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marL="1828800" marR="0" lvl="3" indent="-3302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sz="16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marL="2286000" marR="0" lvl="4" indent="-3302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marL="2743200" marR="0" lvl="5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6pPr>
            <a:lvl7pPr marL="3200400" marR="0" lvl="6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7pPr>
            <a:lvl8pPr marL="3657600" marR="0" lvl="7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8pPr>
            <a:lvl9pPr marL="4114800" marR="0" lvl="8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9pPr>
          </a:lstStyle>
          <a:p>
            <a:pPr marL="342900" indent="-190500" algn="just">
              <a:spcBef>
                <a:spcPts val="0"/>
              </a:spcBef>
              <a:buSzPct val="100000"/>
              <a:buFont typeface="Arial"/>
              <a:buNone/>
            </a:pPr>
            <a:endParaRPr lang="en-US" dirty="0" smtClean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190500" algn="just">
              <a:spcBef>
                <a:spcPts val="0"/>
              </a:spcBef>
              <a:buSzPct val="100000"/>
              <a:buFont typeface="Arial"/>
              <a:buNone/>
            </a:pPr>
            <a:endParaRPr lang="en-US" dirty="0" smtClean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190500" algn="just">
              <a:lnSpc>
                <a:spcPct val="200000"/>
              </a:lnSpc>
              <a:spcBef>
                <a:spcPts val="0"/>
              </a:spcBef>
              <a:buSzPct val="100000"/>
              <a:buFont typeface="Arial"/>
              <a:buNone/>
            </a:pPr>
            <a:endParaRPr lang="en-US" dirty="0" smtClean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190500" algn="just">
              <a:lnSpc>
                <a:spcPct val="200000"/>
              </a:lnSpc>
              <a:spcBef>
                <a:spcPts val="0"/>
              </a:spcBef>
              <a:buSzPct val="100000"/>
              <a:buFont typeface="Arial"/>
              <a:buNone/>
            </a:pPr>
            <a:endParaRPr lang="en-US" dirty="0" smtClean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190500" algn="just">
              <a:lnSpc>
                <a:spcPct val="200000"/>
              </a:lnSpc>
              <a:spcBef>
                <a:spcPts val="0"/>
              </a:spcBef>
              <a:buSzPct val="100000"/>
              <a:buFont typeface="Arial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5" name="Google Shape;115;p17"/>
          <p:cNvSpPr txBox="1">
            <a:spLocks/>
          </p:cNvSpPr>
          <p:nvPr/>
        </p:nvSpPr>
        <p:spPr>
          <a:xfrm>
            <a:off x="812800" y="1143000"/>
            <a:ext cx="10668000" cy="417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L="914400" marR="0" lvl="1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marL="1371600" marR="0" lvl="2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marL="1828800" marR="0" lvl="3" indent="-3302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sz="16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marL="2286000" marR="0" lvl="4" indent="-3302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marL="2743200" marR="0" lvl="5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6pPr>
            <a:lvl7pPr marL="3200400" marR="0" lvl="6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7pPr>
            <a:lvl8pPr marL="3657600" marR="0" lvl="7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8pPr>
            <a:lvl9pPr marL="4114800" marR="0" lvl="8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9pPr>
          </a:lstStyle>
          <a:p>
            <a:pPr marL="342900" indent="-190500" algn="just">
              <a:spcBef>
                <a:spcPts val="0"/>
              </a:spcBef>
              <a:buSzPct val="100000"/>
              <a:buFont typeface="Arial"/>
              <a:buNone/>
            </a:pPr>
            <a:r>
              <a:rPr lang="en-US" dirty="0" smtClean="0">
                <a:latin typeface="Cambria" panose="02040503050406030204" pitchFamily="18" charset="0"/>
                <a:ea typeface="Cambria" panose="02040503050406030204" pitchFamily="18" charset="0"/>
              </a:rPr>
              <a:t>The Github link provided should have public access permission.</a:t>
            </a:r>
          </a:p>
          <a:p>
            <a:pPr marL="342900" indent="-190500" algn="just">
              <a:spcBef>
                <a:spcPts val="0"/>
              </a:spcBef>
              <a:buSzPct val="100000"/>
              <a:buFont typeface="Arial"/>
              <a:buNone/>
            </a:pPr>
            <a:endParaRPr lang="en-US" dirty="0" smtClean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190500" algn="just">
              <a:spcBef>
                <a:spcPts val="0"/>
              </a:spcBef>
              <a:buSzPct val="100000"/>
              <a:buFont typeface="Arial"/>
              <a:buNone/>
            </a:pPr>
            <a:r>
              <a:rPr lang="en-US" b="1" dirty="0" smtClean="0">
                <a:solidFill>
                  <a:schemeClr val="accent2">
                    <a:lumMod val="7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  <a:hlinkClick r:id="rId3"/>
              </a:rPr>
              <a:t>Github Link</a:t>
            </a:r>
            <a:endParaRPr lang="en-US" b="1" dirty="0" smtClean="0">
              <a:solidFill>
                <a:schemeClr val="accent2">
                  <a:lumMod val="75000"/>
                </a:schemeClr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190500" algn="just">
              <a:spcBef>
                <a:spcPts val="0"/>
              </a:spcBef>
              <a:buSzPct val="100000"/>
              <a:buFont typeface="Arial"/>
              <a:buNone/>
            </a:pPr>
            <a:endParaRPr lang="en-US" dirty="0" smtClean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190500" algn="just">
              <a:lnSpc>
                <a:spcPct val="200000"/>
              </a:lnSpc>
              <a:spcBef>
                <a:spcPts val="0"/>
              </a:spcBef>
              <a:buSzPct val="100000"/>
              <a:buFont typeface="Arial"/>
              <a:buNone/>
            </a:pPr>
            <a:endParaRPr lang="en-US" dirty="0" smtClean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190500" algn="just">
              <a:lnSpc>
                <a:spcPct val="200000"/>
              </a:lnSpc>
              <a:spcBef>
                <a:spcPts val="0"/>
              </a:spcBef>
              <a:buSzPct val="100000"/>
              <a:buFont typeface="Arial"/>
              <a:buNone/>
            </a:pPr>
            <a:endParaRPr lang="en-US" dirty="0" smtClean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190500" algn="just">
              <a:lnSpc>
                <a:spcPct val="200000"/>
              </a:lnSpc>
              <a:spcBef>
                <a:spcPts val="0"/>
              </a:spcBef>
              <a:buSzPct val="100000"/>
              <a:buFont typeface="Arial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285635733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7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152400" lvl="0">
              <a:lnSpc>
                <a:spcPct val="200000"/>
              </a:lnSpc>
            </a:pPr>
            <a:r>
              <a:rPr lang="en-US" dirty="0" smtClean="0">
                <a:latin typeface="Cambria" panose="02040503050406030204" pitchFamily="18" charset="0"/>
                <a:ea typeface="Cambria" panose="02040503050406030204" pitchFamily="18" charset="0"/>
              </a:rPr>
              <a:t>Analysis 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of Problem </a:t>
            </a:r>
            <a:r>
              <a:rPr lang="en-US" dirty="0" smtClean="0">
                <a:latin typeface="Cambria" panose="02040503050406030204" pitchFamily="18" charset="0"/>
                <a:ea typeface="Cambria" panose="02040503050406030204" pitchFamily="18" charset="0"/>
              </a:rPr>
              <a:t>Statement </a:t>
            </a:r>
            <a:r>
              <a:rPr lang="en-US" sz="2000" dirty="0" smtClean="0">
                <a:latin typeface="Cambria" panose="02040503050406030204" pitchFamily="18" charset="0"/>
                <a:ea typeface="Cambria" panose="02040503050406030204" pitchFamily="18" charset="0"/>
              </a:rPr>
              <a:t>(contd...)</a:t>
            </a: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15" name="Google Shape;115;p17"/>
          <p:cNvSpPr txBox="1">
            <a:spLocks noGrp="1"/>
          </p:cNvSpPr>
          <p:nvPr>
            <p:ph type="body" idx="1"/>
          </p:nvPr>
        </p:nvSpPr>
        <p:spPr>
          <a:xfrm>
            <a:off x="812800" y="1143000"/>
            <a:ext cx="10668000" cy="49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lvl="0" indent="-1905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dirty="0" smtClean="0">
                <a:latin typeface="Cambria" panose="02040503050406030204" pitchFamily="18" charset="0"/>
                <a:ea typeface="Cambria" panose="02040503050406030204" pitchFamily="18" charset="0"/>
              </a:rPr>
              <a:t>Hardware Requirements</a:t>
            </a:r>
            <a:r>
              <a:rPr lang="en-US" dirty="0" smtClean="0">
                <a:latin typeface="Cambria" panose="02040503050406030204" pitchFamily="18" charset="0"/>
                <a:ea typeface="Cambria" panose="02040503050406030204" pitchFamily="18" charset="0"/>
              </a:rPr>
              <a:t>: </a:t>
            </a:r>
            <a:endParaRPr lang="en-US" dirty="0" smtClean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lvl="0" indent="-1905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lang="en-US" dirty="0" smtClean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lvl="0" indent="-1905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lang="en-US" dirty="0" smtClean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lvl="0" indent="-1905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1053546" y="2087216"/>
          <a:ext cx="9086576" cy="3835400"/>
        </p:xfrm>
        <a:graphic>
          <a:graphicData uri="http://schemas.openxmlformats.org/drawingml/2006/table">
            <a:tbl>
              <a:tblPr firstRow="1" bandRow="1"/>
              <a:tblGrid>
                <a:gridCol w="2271644"/>
                <a:gridCol w="2271644"/>
                <a:gridCol w="2271644"/>
                <a:gridCol w="2271644"/>
              </a:tblGrid>
              <a:tr h="542603">
                <a:tc>
                  <a:txBody>
                    <a:bodyPr/>
                    <a:lstStyle/>
                    <a:p>
                      <a:pPr algn="l"/>
                      <a:r>
                        <a:rPr lang="en-US" sz="1500" b="1">
                          <a:solidFill>
                            <a:schemeClr val="tx1"/>
                          </a:solidFill>
                          <a:latin typeface="Cambria" pitchFamily="18" charset="0"/>
                          <a:ea typeface="Cambria" pitchFamily="18" charset="0"/>
                        </a:rPr>
                        <a:t>Component</a:t>
                      </a:r>
                    </a:p>
                  </a:txBody>
                  <a:tcPr marR="63500" marT="63500" marB="6350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b="1">
                          <a:solidFill>
                            <a:schemeClr val="tx1"/>
                          </a:solidFill>
                          <a:latin typeface="Cambria" pitchFamily="18" charset="0"/>
                          <a:ea typeface="Cambria" pitchFamily="18" charset="0"/>
                        </a:rPr>
                        <a:t>Minimum Recommendation</a:t>
                      </a:r>
                    </a:p>
                  </a:txBody>
                  <a:tcPr marL="63500" marR="63500" marT="63500" marB="6350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b="1">
                          <a:solidFill>
                            <a:schemeClr val="tx1"/>
                          </a:solidFill>
                          <a:latin typeface="Cambria" pitchFamily="18" charset="0"/>
                          <a:ea typeface="Cambria" pitchFamily="18" charset="0"/>
                        </a:rPr>
                        <a:t>Ideal Recommendation</a:t>
                      </a:r>
                    </a:p>
                  </a:txBody>
                  <a:tcPr marL="63500" marR="63500" marT="63500" marB="6350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b="1">
                          <a:solidFill>
                            <a:schemeClr val="tx1"/>
                          </a:solidFill>
                          <a:latin typeface="Cambria" pitchFamily="18" charset="0"/>
                          <a:ea typeface="Cambria" pitchFamily="18" charset="0"/>
                        </a:rPr>
                        <a:t>Purpose</a:t>
                      </a:r>
                    </a:p>
                  </a:txBody>
                  <a:tcPr marL="63500" marR="63500" marT="63500" marB="63500" anchor="ctr"/>
                </a:tc>
              </a:tr>
              <a:tr h="542603">
                <a:tc>
                  <a:txBody>
                    <a:bodyPr/>
                    <a:lstStyle/>
                    <a:p>
                      <a:r>
                        <a:rPr lang="en-US" sz="1500" b="1">
                          <a:solidFill>
                            <a:schemeClr val="tx1"/>
                          </a:solidFill>
                          <a:latin typeface="Cambria" pitchFamily="18" charset="0"/>
                          <a:ea typeface="Cambria" pitchFamily="18" charset="0"/>
                        </a:rPr>
                        <a:t>GPU (Graphics Card)</a:t>
                      </a:r>
                      <a:endParaRPr lang="en-US" sz="1500">
                        <a:solidFill>
                          <a:schemeClr val="tx1"/>
                        </a:solidFill>
                        <a:latin typeface="Cambria" pitchFamily="18" charset="0"/>
                        <a:ea typeface="Cambria" pitchFamily="18" charset="0"/>
                      </a:endParaRPr>
                    </a:p>
                  </a:txBody>
                  <a:tcPr marR="63500" marT="63500" marB="63500" anchor="ctr"/>
                </a:tc>
                <a:tc>
                  <a:txBody>
                    <a:bodyPr/>
                    <a:lstStyle/>
                    <a:p>
                      <a:r>
                        <a:rPr lang="pt-BR" sz="1500">
                          <a:solidFill>
                            <a:schemeClr val="tx1"/>
                          </a:solidFill>
                          <a:latin typeface="Cambria" pitchFamily="18" charset="0"/>
                          <a:ea typeface="Cambria" pitchFamily="18" charset="0"/>
                        </a:rPr>
                        <a:t>NVIDIA GTX 1060 (6GB VRAM)</a:t>
                      </a:r>
                    </a:p>
                  </a:txBody>
                  <a:tcPr marL="63500" marR="63500" marT="63500" marB="63500" anchor="ctr"/>
                </a:tc>
                <a:tc>
                  <a:txBody>
                    <a:bodyPr/>
                    <a:lstStyle/>
                    <a:p>
                      <a:r>
                        <a:rPr lang="en-US" sz="1500">
                          <a:solidFill>
                            <a:schemeClr val="tx1"/>
                          </a:solidFill>
                          <a:latin typeface="Cambria" pitchFamily="18" charset="0"/>
                          <a:ea typeface="Cambria" pitchFamily="18" charset="0"/>
                        </a:rPr>
                        <a:t>NVIDIA RTX 3080 / 4090 or A100</a:t>
                      </a:r>
                    </a:p>
                  </a:txBody>
                  <a:tcPr marL="63500" marR="63500" marT="63500" marB="63500" anchor="ctr"/>
                </a:tc>
                <a:tc>
                  <a:txBody>
                    <a:bodyPr/>
                    <a:lstStyle/>
                    <a:p>
                      <a:r>
                        <a:rPr lang="en-US" sz="1500" b="1">
                          <a:solidFill>
                            <a:schemeClr val="tx1"/>
                          </a:solidFill>
                          <a:latin typeface="Cambria" pitchFamily="18" charset="0"/>
                          <a:ea typeface="Cambria" pitchFamily="18" charset="0"/>
                        </a:rPr>
                        <a:t>Essential</a:t>
                      </a:r>
                      <a:r>
                        <a:rPr lang="en-US" sz="1500">
                          <a:solidFill>
                            <a:schemeClr val="tx1"/>
                          </a:solidFill>
                          <a:latin typeface="Cambria" pitchFamily="18" charset="0"/>
                          <a:ea typeface="Cambria" pitchFamily="18" charset="0"/>
                        </a:rPr>
                        <a:t> for accelerating deep learning model training.</a:t>
                      </a:r>
                    </a:p>
                  </a:txBody>
                  <a:tcPr marL="63500" marR="63500" marT="63500" marB="63500" anchor="ctr"/>
                </a:tc>
              </a:tr>
              <a:tr h="542603">
                <a:tc>
                  <a:txBody>
                    <a:bodyPr/>
                    <a:lstStyle/>
                    <a:p>
                      <a:r>
                        <a:rPr lang="en-US" sz="1500" b="1">
                          <a:solidFill>
                            <a:schemeClr val="tx1"/>
                          </a:solidFill>
                          <a:latin typeface="Cambria" pitchFamily="18" charset="0"/>
                          <a:ea typeface="Cambria" pitchFamily="18" charset="0"/>
                        </a:rPr>
                        <a:t>CPU (Processor)</a:t>
                      </a:r>
                      <a:endParaRPr lang="en-US" sz="1500">
                        <a:solidFill>
                          <a:schemeClr val="tx1"/>
                        </a:solidFill>
                        <a:latin typeface="Cambria" pitchFamily="18" charset="0"/>
                        <a:ea typeface="Cambria" pitchFamily="18" charset="0"/>
                      </a:endParaRPr>
                    </a:p>
                  </a:txBody>
                  <a:tcPr marR="63500" marT="63500" marB="63500" anchor="ctr"/>
                </a:tc>
                <a:tc>
                  <a:txBody>
                    <a:bodyPr/>
                    <a:lstStyle/>
                    <a:p>
                      <a:r>
                        <a:rPr lang="en-US" sz="1500">
                          <a:solidFill>
                            <a:schemeClr val="tx1"/>
                          </a:solidFill>
                          <a:latin typeface="Cambria" pitchFamily="18" charset="0"/>
                          <a:ea typeface="Cambria" pitchFamily="18" charset="0"/>
                        </a:rPr>
                        <a:t>Intel i5 or AMD Ryzen 5</a:t>
                      </a:r>
                    </a:p>
                  </a:txBody>
                  <a:tcPr marL="63500" marR="63500" marT="63500" marB="63500" anchor="ctr"/>
                </a:tc>
                <a:tc>
                  <a:txBody>
                    <a:bodyPr/>
                    <a:lstStyle/>
                    <a:p>
                      <a:r>
                        <a:rPr lang="nn-NO" sz="1500">
                          <a:solidFill>
                            <a:schemeClr val="tx1"/>
                          </a:solidFill>
                          <a:latin typeface="Cambria" pitchFamily="18" charset="0"/>
                          <a:ea typeface="Cambria" pitchFamily="18" charset="0"/>
                        </a:rPr>
                        <a:t>Intel i7/i9 or AMD Ryzen 7/9</a:t>
                      </a:r>
                    </a:p>
                  </a:txBody>
                  <a:tcPr marL="63500" marR="63500" marT="63500" marB="63500" anchor="ctr"/>
                </a:tc>
                <a:tc>
                  <a:txBody>
                    <a:bodyPr/>
                    <a:lstStyle/>
                    <a:p>
                      <a:r>
                        <a:rPr lang="en-US" sz="1500">
                          <a:solidFill>
                            <a:schemeClr val="tx1"/>
                          </a:solidFill>
                          <a:latin typeface="Cambria" pitchFamily="18" charset="0"/>
                          <a:ea typeface="Cambria" pitchFamily="18" charset="0"/>
                        </a:rPr>
                        <a:t>Handles general tasks and data loading while the GPU trains.</a:t>
                      </a:r>
                    </a:p>
                  </a:txBody>
                  <a:tcPr marL="63500" marR="63500" marT="63500" marB="63500" anchor="ctr"/>
                </a:tc>
              </a:tr>
              <a:tr h="542603">
                <a:tc>
                  <a:txBody>
                    <a:bodyPr/>
                    <a:lstStyle/>
                    <a:p>
                      <a:r>
                        <a:rPr lang="en-US" sz="1500" b="1">
                          <a:solidFill>
                            <a:schemeClr val="tx1"/>
                          </a:solidFill>
                          <a:latin typeface="Cambria" pitchFamily="18" charset="0"/>
                          <a:ea typeface="Cambria" pitchFamily="18" charset="0"/>
                        </a:rPr>
                        <a:t>RAM (Memory)</a:t>
                      </a:r>
                      <a:endParaRPr lang="en-US" sz="1500">
                        <a:solidFill>
                          <a:schemeClr val="tx1"/>
                        </a:solidFill>
                        <a:latin typeface="Cambria" pitchFamily="18" charset="0"/>
                        <a:ea typeface="Cambria" pitchFamily="18" charset="0"/>
                      </a:endParaRPr>
                    </a:p>
                  </a:txBody>
                  <a:tcPr marR="63500" marT="63500" marB="63500" anchor="ctr"/>
                </a:tc>
                <a:tc>
                  <a:txBody>
                    <a:bodyPr/>
                    <a:lstStyle/>
                    <a:p>
                      <a:r>
                        <a:rPr lang="en-US" sz="1500">
                          <a:solidFill>
                            <a:schemeClr val="tx1"/>
                          </a:solidFill>
                          <a:latin typeface="Cambria" pitchFamily="18" charset="0"/>
                          <a:ea typeface="Cambria" pitchFamily="18" charset="0"/>
                        </a:rPr>
                        <a:t>16 GB</a:t>
                      </a:r>
                    </a:p>
                  </a:txBody>
                  <a:tcPr marL="63500" marR="63500" marT="63500" marB="63500" anchor="ctr"/>
                </a:tc>
                <a:tc>
                  <a:txBody>
                    <a:bodyPr/>
                    <a:lstStyle/>
                    <a:p>
                      <a:r>
                        <a:rPr lang="en-US" sz="1500">
                          <a:solidFill>
                            <a:schemeClr val="tx1"/>
                          </a:solidFill>
                          <a:latin typeface="Cambria" pitchFamily="18" charset="0"/>
                          <a:ea typeface="Cambria" pitchFamily="18" charset="0"/>
                        </a:rPr>
                        <a:t>32 GB or more</a:t>
                      </a:r>
                    </a:p>
                  </a:txBody>
                  <a:tcPr marL="63500" marR="63500" marT="63500" marB="63500" anchor="ctr"/>
                </a:tc>
                <a:tc>
                  <a:txBody>
                    <a:bodyPr/>
                    <a:lstStyle/>
                    <a:p>
                      <a:r>
                        <a:rPr lang="en-US" sz="1500">
                          <a:solidFill>
                            <a:schemeClr val="tx1"/>
                          </a:solidFill>
                          <a:latin typeface="Cambria" pitchFamily="18" charset="0"/>
                          <a:ea typeface="Cambria" pitchFamily="18" charset="0"/>
                        </a:rPr>
                        <a:t>Prevents bottlenecks when processing large batches of image data.</a:t>
                      </a:r>
                    </a:p>
                  </a:txBody>
                  <a:tcPr marL="63500" marR="63500" marT="63500" marB="63500" anchor="ctr"/>
                </a:tc>
              </a:tr>
              <a:tr h="542603">
                <a:tc>
                  <a:txBody>
                    <a:bodyPr/>
                    <a:lstStyle/>
                    <a:p>
                      <a:r>
                        <a:rPr lang="en-US" sz="1500" b="1">
                          <a:solidFill>
                            <a:schemeClr val="tx1"/>
                          </a:solidFill>
                          <a:latin typeface="Cambria" pitchFamily="18" charset="0"/>
                          <a:ea typeface="Cambria" pitchFamily="18" charset="0"/>
                        </a:rPr>
                        <a:t>Storage</a:t>
                      </a:r>
                      <a:endParaRPr lang="en-US" sz="1500">
                        <a:solidFill>
                          <a:schemeClr val="tx1"/>
                        </a:solidFill>
                        <a:latin typeface="Cambria" pitchFamily="18" charset="0"/>
                        <a:ea typeface="Cambria" pitchFamily="18" charset="0"/>
                      </a:endParaRPr>
                    </a:p>
                  </a:txBody>
                  <a:tcPr marR="63500" marT="63500" marB="63500" anchor="ctr"/>
                </a:tc>
                <a:tc>
                  <a:txBody>
                    <a:bodyPr/>
                    <a:lstStyle/>
                    <a:p>
                      <a:r>
                        <a:rPr lang="en-US" sz="1500">
                          <a:solidFill>
                            <a:schemeClr val="tx1"/>
                          </a:solidFill>
                          <a:latin typeface="Cambria" pitchFamily="18" charset="0"/>
                          <a:ea typeface="Cambria" pitchFamily="18" charset="0"/>
                        </a:rPr>
                        <a:t>256 GB SSD</a:t>
                      </a:r>
                    </a:p>
                  </a:txBody>
                  <a:tcPr marL="63500" marR="63500" marT="63500" marB="63500" anchor="ctr"/>
                </a:tc>
                <a:tc>
                  <a:txBody>
                    <a:bodyPr/>
                    <a:lstStyle/>
                    <a:p>
                      <a:r>
                        <a:rPr lang="en-US" sz="1500">
                          <a:solidFill>
                            <a:schemeClr val="tx1"/>
                          </a:solidFill>
                          <a:latin typeface="Cambria" pitchFamily="18" charset="0"/>
                          <a:ea typeface="Cambria" pitchFamily="18" charset="0"/>
                        </a:rPr>
                        <a:t>512 GB+ NVMe SSD</a:t>
                      </a:r>
                    </a:p>
                  </a:txBody>
                  <a:tcPr marL="63500" marR="63500" marT="63500" marB="63500" anchor="ctr"/>
                </a:tc>
                <a:tc>
                  <a:txBody>
                    <a:bodyPr/>
                    <a:lstStyle/>
                    <a:p>
                      <a:r>
                        <a:rPr lang="en-US" sz="1500" dirty="0">
                          <a:solidFill>
                            <a:schemeClr val="tx1"/>
                          </a:solidFill>
                          <a:latin typeface="Cambria" pitchFamily="18" charset="0"/>
                          <a:ea typeface="Cambria" pitchFamily="18" charset="0"/>
                        </a:rPr>
                        <a:t>Fast storage drastically reduces image loading times during training.</a:t>
                      </a:r>
                    </a:p>
                  </a:txBody>
                  <a:tcPr marL="63500" marR="63500" marT="63500" marB="63500" anchor="ctr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xmlns="" val="333883254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7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152400" lvl="0">
              <a:lnSpc>
                <a:spcPct val="200000"/>
              </a:lnSpc>
            </a:pPr>
            <a:r>
              <a:rPr lang="en-US" dirty="0" smtClean="0">
                <a:latin typeface="Cambria" panose="02040503050406030204" pitchFamily="18" charset="0"/>
                <a:ea typeface="Cambria" panose="02040503050406030204" pitchFamily="18" charset="0"/>
              </a:rPr>
              <a:t>Analysis 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of Problem </a:t>
            </a:r>
            <a:r>
              <a:rPr lang="en-US" dirty="0" smtClean="0">
                <a:latin typeface="Cambria" panose="02040503050406030204" pitchFamily="18" charset="0"/>
                <a:ea typeface="Cambria" panose="02040503050406030204" pitchFamily="18" charset="0"/>
              </a:rPr>
              <a:t>Statement </a:t>
            </a:r>
            <a:r>
              <a:rPr lang="en-US" sz="2000" dirty="0" smtClean="0">
                <a:latin typeface="Cambria" panose="02040503050406030204" pitchFamily="18" charset="0"/>
                <a:ea typeface="Cambria" panose="02040503050406030204" pitchFamily="18" charset="0"/>
              </a:rPr>
              <a:t>(contd...)</a:t>
            </a: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15" name="Google Shape;115;p17"/>
          <p:cNvSpPr txBox="1">
            <a:spLocks noGrp="1"/>
          </p:cNvSpPr>
          <p:nvPr>
            <p:ph type="body" idx="1"/>
          </p:nvPr>
        </p:nvSpPr>
        <p:spPr>
          <a:xfrm>
            <a:off x="812800" y="864704"/>
            <a:ext cx="10668000" cy="52312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lvl="0" indent="-190500" algn="just">
              <a:lnSpc>
                <a:spcPct val="200000"/>
              </a:lnSpc>
              <a:spcBef>
                <a:spcPts val="0"/>
              </a:spcBef>
              <a:buSzPct val="100000"/>
              <a:buNone/>
            </a:pPr>
            <a:r>
              <a:rPr lang="en-US" dirty="0" smtClean="0">
                <a:latin typeface="Cambria" panose="02040503050406030204" pitchFamily="18" charset="0"/>
                <a:ea typeface="Cambria" panose="02040503050406030204" pitchFamily="18" charset="0"/>
              </a:rPr>
              <a:t>Software and Environment Requirements:</a:t>
            </a:r>
          </a:p>
          <a:p>
            <a:pPr marL="342900" lvl="0" indent="-190500" algn="just">
              <a:lnSpc>
                <a:spcPct val="200000"/>
              </a:lnSpc>
              <a:spcBef>
                <a:spcPts val="0"/>
              </a:spcBef>
              <a:buSzPct val="100000"/>
              <a:buNone/>
            </a:pP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3428999" y="1600202"/>
          <a:ext cx="8140149" cy="4615657"/>
        </p:xfrm>
        <a:graphic>
          <a:graphicData uri="http://schemas.openxmlformats.org/drawingml/2006/table">
            <a:tbl>
              <a:tblPr firstRow="1" bandRow="1"/>
              <a:tblGrid>
                <a:gridCol w="2426254"/>
                <a:gridCol w="2426254"/>
                <a:gridCol w="3287641"/>
              </a:tblGrid>
              <a:tr h="321217">
                <a:tc>
                  <a:txBody>
                    <a:bodyPr/>
                    <a:lstStyle/>
                    <a:p>
                      <a:pPr algn="l"/>
                      <a:r>
                        <a:rPr lang="en-US" sz="1300" b="1" dirty="0">
                          <a:solidFill>
                            <a:schemeClr val="tx1"/>
                          </a:solidFill>
                          <a:latin typeface="Cambria" pitchFamily="18" charset="0"/>
                          <a:ea typeface="Cambria" pitchFamily="18" charset="0"/>
                        </a:rPr>
                        <a:t>Category</a:t>
                      </a:r>
                    </a:p>
                  </a:txBody>
                  <a:tcPr marR="63500" marT="63500" marB="6350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300" b="1">
                          <a:solidFill>
                            <a:schemeClr val="tx1"/>
                          </a:solidFill>
                          <a:latin typeface="Cambria" pitchFamily="18" charset="0"/>
                          <a:ea typeface="Cambria" pitchFamily="18" charset="0"/>
                        </a:rPr>
                        <a:t>Requirement</a:t>
                      </a:r>
                    </a:p>
                  </a:txBody>
                  <a:tcPr marL="63500" marR="63500" marT="63500" marB="6350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300" b="1">
                          <a:solidFill>
                            <a:schemeClr val="tx1"/>
                          </a:solidFill>
                          <a:latin typeface="Cambria" pitchFamily="18" charset="0"/>
                          <a:ea typeface="Cambria" pitchFamily="18" charset="0"/>
                        </a:rPr>
                        <a:t>Details</a:t>
                      </a:r>
                    </a:p>
                  </a:txBody>
                  <a:tcPr marL="63500" marR="63500" marT="63500" marB="63500" anchor="ctr"/>
                </a:tc>
              </a:tr>
              <a:tr h="527713">
                <a:tc>
                  <a:txBody>
                    <a:bodyPr/>
                    <a:lstStyle/>
                    <a:p>
                      <a:r>
                        <a:rPr lang="en-US" sz="1300" b="1">
                          <a:solidFill>
                            <a:schemeClr val="tx1"/>
                          </a:solidFill>
                          <a:latin typeface="Cambria" pitchFamily="18" charset="0"/>
                          <a:ea typeface="Cambria" pitchFamily="18" charset="0"/>
                        </a:rPr>
                        <a:t>Operating System</a:t>
                      </a:r>
                      <a:endParaRPr lang="en-US" sz="1300">
                        <a:solidFill>
                          <a:schemeClr val="tx1"/>
                        </a:solidFill>
                        <a:latin typeface="Cambria" pitchFamily="18" charset="0"/>
                        <a:ea typeface="Cambria" pitchFamily="18" charset="0"/>
                      </a:endParaRPr>
                    </a:p>
                  </a:txBody>
                  <a:tcPr marR="63500" marT="63500" marB="63500" anchor="ctr"/>
                </a:tc>
                <a:tc>
                  <a:txBody>
                    <a:bodyPr/>
                    <a:lstStyle/>
                    <a:p>
                      <a:r>
                        <a:rPr lang="en-US" sz="1300" dirty="0">
                          <a:solidFill>
                            <a:schemeClr val="tx1"/>
                          </a:solidFill>
                          <a:latin typeface="Cambria" pitchFamily="18" charset="0"/>
                          <a:ea typeface="Cambria" pitchFamily="18" charset="0"/>
                        </a:rPr>
                        <a:t>Windows 10/11, Linux (Ubuntu), or macOS</a:t>
                      </a:r>
                    </a:p>
                  </a:txBody>
                  <a:tcPr marL="63500" marR="63500" marT="63500" marB="63500" anchor="ctr"/>
                </a:tc>
                <a:tc>
                  <a:txBody>
                    <a:bodyPr/>
                    <a:lstStyle/>
                    <a:p>
                      <a:r>
                        <a:rPr lang="en-US" sz="1300">
                          <a:solidFill>
                            <a:schemeClr val="tx1"/>
                          </a:solidFill>
                          <a:latin typeface="Cambria" pitchFamily="18" charset="0"/>
                          <a:ea typeface="Cambria" pitchFamily="18" charset="0"/>
                        </a:rPr>
                        <a:t>Linux is often preferred for stability in deep learning.</a:t>
                      </a:r>
                    </a:p>
                  </a:txBody>
                  <a:tcPr marL="63500" marR="63500" marT="63500" marB="63500" anchor="ctr"/>
                </a:tc>
              </a:tr>
              <a:tr h="527713">
                <a:tc>
                  <a:txBody>
                    <a:bodyPr/>
                    <a:lstStyle/>
                    <a:p>
                      <a:r>
                        <a:rPr lang="en-US" sz="1300" b="1">
                          <a:solidFill>
                            <a:schemeClr val="tx1"/>
                          </a:solidFill>
                          <a:latin typeface="Cambria" pitchFamily="18" charset="0"/>
                          <a:ea typeface="Cambria" pitchFamily="18" charset="0"/>
                        </a:rPr>
                        <a:t>Python Version</a:t>
                      </a:r>
                      <a:endParaRPr lang="en-US" sz="1300">
                        <a:solidFill>
                          <a:schemeClr val="tx1"/>
                        </a:solidFill>
                        <a:latin typeface="Cambria" pitchFamily="18" charset="0"/>
                        <a:ea typeface="Cambria" pitchFamily="18" charset="0"/>
                      </a:endParaRPr>
                    </a:p>
                  </a:txBody>
                  <a:tcPr marR="63500" marT="63500" marB="63500" anchor="ctr"/>
                </a:tc>
                <a:tc>
                  <a:txBody>
                    <a:bodyPr/>
                    <a:lstStyle/>
                    <a:p>
                      <a:r>
                        <a:rPr lang="en-US" sz="1300">
                          <a:solidFill>
                            <a:schemeClr val="tx1"/>
                          </a:solidFill>
                          <a:latin typeface="Cambria" pitchFamily="18" charset="0"/>
                          <a:ea typeface="Cambria" pitchFamily="18" charset="0"/>
                        </a:rPr>
                        <a:t>Python 3.8, 3.9, or 3.10</a:t>
                      </a:r>
                    </a:p>
                  </a:txBody>
                  <a:tcPr marL="63500" marR="63500" marT="63500" marB="63500" anchor="ctr"/>
                </a:tc>
                <a:tc>
                  <a:txBody>
                    <a:bodyPr/>
                    <a:lstStyle/>
                    <a:p>
                      <a:r>
                        <a:rPr lang="en-US" sz="1300">
                          <a:solidFill>
                            <a:schemeClr val="tx1"/>
                          </a:solidFill>
                          <a:latin typeface="Cambria" pitchFamily="18" charset="0"/>
                          <a:ea typeface="Cambria" pitchFamily="18" charset="0"/>
                        </a:rPr>
                        <a:t>The core programming language for the project.</a:t>
                      </a:r>
                    </a:p>
                  </a:txBody>
                  <a:tcPr marL="63500" marR="63500" marT="63500" marB="63500" anchor="ctr"/>
                </a:tc>
              </a:tr>
              <a:tr h="2179685">
                <a:tc>
                  <a:txBody>
                    <a:bodyPr/>
                    <a:lstStyle/>
                    <a:p>
                      <a:r>
                        <a:rPr lang="en-US" sz="1300" b="1" dirty="0">
                          <a:solidFill>
                            <a:schemeClr val="tx1"/>
                          </a:solidFill>
                          <a:latin typeface="Cambria" pitchFamily="18" charset="0"/>
                          <a:ea typeface="Cambria" pitchFamily="18" charset="0"/>
                        </a:rPr>
                        <a:t>Key Python Packages</a:t>
                      </a:r>
                      <a:endParaRPr lang="en-US" sz="1300" dirty="0">
                        <a:solidFill>
                          <a:schemeClr val="tx1"/>
                        </a:solidFill>
                        <a:latin typeface="Cambria" pitchFamily="18" charset="0"/>
                        <a:ea typeface="Cambria" pitchFamily="18" charset="0"/>
                      </a:endParaRPr>
                    </a:p>
                  </a:txBody>
                  <a:tcPr marR="63500" marT="63500" marB="63500" anchor="ctr"/>
                </a:tc>
                <a:tc>
                  <a:txBody>
                    <a:bodyPr/>
                    <a:lstStyle/>
                    <a:p>
                      <a:r>
                        <a:rPr lang="en-US" sz="1300">
                          <a:solidFill>
                            <a:schemeClr val="tx1"/>
                          </a:solidFill>
                          <a:latin typeface="Cambria" pitchFamily="18" charset="0"/>
                          <a:ea typeface="Cambria" pitchFamily="18" charset="0"/>
                        </a:rPr>
                        <a:t>• TensorFlow</a:t>
                      </a:r>
                      <a:br>
                        <a:rPr lang="en-US" sz="1300">
                          <a:solidFill>
                            <a:schemeClr val="tx1"/>
                          </a:solidFill>
                          <a:latin typeface="Cambria" pitchFamily="18" charset="0"/>
                          <a:ea typeface="Cambria" pitchFamily="18" charset="0"/>
                        </a:rPr>
                      </a:br>
                      <a:r>
                        <a:rPr lang="en-US" sz="1300">
                          <a:solidFill>
                            <a:schemeClr val="tx1"/>
                          </a:solidFill>
                          <a:latin typeface="Cambria" pitchFamily="18" charset="0"/>
                          <a:ea typeface="Cambria" pitchFamily="18" charset="0"/>
                        </a:rPr>
                        <a:t>• Keras</a:t>
                      </a:r>
                      <a:br>
                        <a:rPr lang="en-US" sz="1300">
                          <a:solidFill>
                            <a:schemeClr val="tx1"/>
                          </a:solidFill>
                          <a:latin typeface="Cambria" pitchFamily="18" charset="0"/>
                          <a:ea typeface="Cambria" pitchFamily="18" charset="0"/>
                        </a:rPr>
                      </a:br>
                      <a:r>
                        <a:rPr lang="en-US" sz="1300">
                          <a:solidFill>
                            <a:schemeClr val="tx1"/>
                          </a:solidFill>
                          <a:latin typeface="Cambria" pitchFamily="18" charset="0"/>
                          <a:ea typeface="Cambria" pitchFamily="18" charset="0"/>
                        </a:rPr>
                        <a:t>• OpenCV-python</a:t>
                      </a:r>
                      <a:br>
                        <a:rPr lang="en-US" sz="1300">
                          <a:solidFill>
                            <a:schemeClr val="tx1"/>
                          </a:solidFill>
                          <a:latin typeface="Cambria" pitchFamily="18" charset="0"/>
                          <a:ea typeface="Cambria" pitchFamily="18" charset="0"/>
                        </a:rPr>
                      </a:br>
                      <a:r>
                        <a:rPr lang="en-US" sz="1300">
                          <a:solidFill>
                            <a:schemeClr val="tx1"/>
                          </a:solidFill>
                          <a:latin typeface="Cambria" pitchFamily="18" charset="0"/>
                          <a:ea typeface="Cambria" pitchFamily="18" charset="0"/>
                        </a:rPr>
                        <a:t>• Pillow</a:t>
                      </a:r>
                      <a:br>
                        <a:rPr lang="en-US" sz="1300">
                          <a:solidFill>
                            <a:schemeClr val="tx1"/>
                          </a:solidFill>
                          <a:latin typeface="Cambria" pitchFamily="18" charset="0"/>
                          <a:ea typeface="Cambria" pitchFamily="18" charset="0"/>
                        </a:rPr>
                      </a:br>
                      <a:r>
                        <a:rPr lang="en-US" sz="1300">
                          <a:solidFill>
                            <a:schemeClr val="tx1"/>
                          </a:solidFill>
                          <a:latin typeface="Cambria" pitchFamily="18" charset="0"/>
                          <a:ea typeface="Cambria" pitchFamily="18" charset="0"/>
                        </a:rPr>
                        <a:t>• Scikit-learn</a:t>
                      </a:r>
                      <a:br>
                        <a:rPr lang="en-US" sz="1300">
                          <a:solidFill>
                            <a:schemeClr val="tx1"/>
                          </a:solidFill>
                          <a:latin typeface="Cambria" pitchFamily="18" charset="0"/>
                          <a:ea typeface="Cambria" pitchFamily="18" charset="0"/>
                        </a:rPr>
                      </a:br>
                      <a:r>
                        <a:rPr lang="en-US" sz="1300">
                          <a:solidFill>
                            <a:schemeClr val="tx1"/>
                          </a:solidFill>
                          <a:latin typeface="Cambria" pitchFamily="18" charset="0"/>
                          <a:ea typeface="Cambria" pitchFamily="18" charset="0"/>
                        </a:rPr>
                        <a:t>• NumPy</a:t>
                      </a:r>
                      <a:br>
                        <a:rPr lang="en-US" sz="1300">
                          <a:solidFill>
                            <a:schemeClr val="tx1"/>
                          </a:solidFill>
                          <a:latin typeface="Cambria" pitchFamily="18" charset="0"/>
                          <a:ea typeface="Cambria" pitchFamily="18" charset="0"/>
                        </a:rPr>
                      </a:br>
                      <a:r>
                        <a:rPr lang="en-US" sz="1300">
                          <a:solidFill>
                            <a:schemeClr val="tx1"/>
                          </a:solidFill>
                          <a:latin typeface="Cambria" pitchFamily="18" charset="0"/>
                          <a:ea typeface="Cambria" pitchFamily="18" charset="0"/>
                        </a:rPr>
                        <a:t>• Pandas</a:t>
                      </a:r>
                      <a:br>
                        <a:rPr lang="en-US" sz="1300">
                          <a:solidFill>
                            <a:schemeClr val="tx1"/>
                          </a:solidFill>
                          <a:latin typeface="Cambria" pitchFamily="18" charset="0"/>
                          <a:ea typeface="Cambria" pitchFamily="18" charset="0"/>
                        </a:rPr>
                      </a:br>
                      <a:r>
                        <a:rPr lang="en-US" sz="1300">
                          <a:solidFill>
                            <a:schemeClr val="tx1"/>
                          </a:solidFill>
                          <a:latin typeface="Cambria" pitchFamily="18" charset="0"/>
                          <a:ea typeface="Cambria" pitchFamily="18" charset="0"/>
                        </a:rPr>
                        <a:t>• Matplotlib</a:t>
                      </a:r>
                      <a:br>
                        <a:rPr lang="en-US" sz="1300">
                          <a:solidFill>
                            <a:schemeClr val="tx1"/>
                          </a:solidFill>
                          <a:latin typeface="Cambria" pitchFamily="18" charset="0"/>
                          <a:ea typeface="Cambria" pitchFamily="18" charset="0"/>
                        </a:rPr>
                      </a:br>
                      <a:r>
                        <a:rPr lang="en-US" sz="1300">
                          <a:solidFill>
                            <a:schemeClr val="tx1"/>
                          </a:solidFill>
                          <a:latin typeface="Cambria" pitchFamily="18" charset="0"/>
                          <a:ea typeface="Cambria" pitchFamily="18" charset="0"/>
                        </a:rPr>
                        <a:t>• Seaborn</a:t>
                      </a:r>
                      <a:br>
                        <a:rPr lang="en-US" sz="1300">
                          <a:solidFill>
                            <a:schemeClr val="tx1"/>
                          </a:solidFill>
                          <a:latin typeface="Cambria" pitchFamily="18" charset="0"/>
                          <a:ea typeface="Cambria" pitchFamily="18" charset="0"/>
                        </a:rPr>
                      </a:br>
                      <a:r>
                        <a:rPr lang="en-US" sz="1300">
                          <a:solidFill>
                            <a:schemeClr val="tx1"/>
                          </a:solidFill>
                          <a:latin typeface="Cambria" pitchFamily="18" charset="0"/>
                          <a:ea typeface="Cambria" pitchFamily="18" charset="0"/>
                        </a:rPr>
                        <a:t>• LIME</a:t>
                      </a:r>
                    </a:p>
                  </a:txBody>
                  <a:tcPr marL="63500" marR="63500" marT="63500" marB="63500" anchor="ctr"/>
                </a:tc>
                <a:tc>
                  <a:txBody>
                    <a:bodyPr/>
                    <a:lstStyle/>
                    <a:p>
                      <a:r>
                        <a:rPr lang="en-US" sz="1300">
                          <a:solidFill>
                            <a:schemeClr val="tx1"/>
                          </a:solidFill>
                          <a:latin typeface="Cambria" pitchFamily="18" charset="0"/>
                          <a:ea typeface="Cambria" pitchFamily="18" charset="0"/>
                        </a:rPr>
                        <a:t>Install via pip install command. These form the core software stack.</a:t>
                      </a:r>
                    </a:p>
                  </a:txBody>
                  <a:tcPr marL="63500" marR="63500" marT="63500" marB="63500" anchor="ctr"/>
                </a:tc>
              </a:tr>
              <a:tr h="527713">
                <a:tc>
                  <a:txBody>
                    <a:bodyPr/>
                    <a:lstStyle/>
                    <a:p>
                      <a:r>
                        <a:rPr lang="en-US" sz="1300" b="1">
                          <a:solidFill>
                            <a:schemeClr val="tx1"/>
                          </a:solidFill>
                          <a:latin typeface="Cambria" pitchFamily="18" charset="0"/>
                          <a:ea typeface="Cambria" pitchFamily="18" charset="0"/>
                        </a:rPr>
                        <a:t>GPU Drivers</a:t>
                      </a:r>
                      <a:endParaRPr lang="en-US" sz="1300">
                        <a:solidFill>
                          <a:schemeClr val="tx1"/>
                        </a:solidFill>
                        <a:latin typeface="Cambria" pitchFamily="18" charset="0"/>
                        <a:ea typeface="Cambria" pitchFamily="18" charset="0"/>
                      </a:endParaRPr>
                    </a:p>
                  </a:txBody>
                  <a:tcPr marR="63500" marT="63500" marB="63500" anchor="ctr"/>
                </a:tc>
                <a:tc>
                  <a:txBody>
                    <a:bodyPr/>
                    <a:lstStyle/>
                    <a:p>
                      <a:r>
                        <a:rPr lang="en-US" sz="1300">
                          <a:solidFill>
                            <a:schemeClr val="tx1"/>
                          </a:solidFill>
                          <a:latin typeface="Cambria" pitchFamily="18" charset="0"/>
                          <a:ea typeface="Cambria" pitchFamily="18" charset="0"/>
                        </a:rPr>
                        <a:t>NVIDIA CUDA Toolkit &amp; cuDNN</a:t>
                      </a:r>
                    </a:p>
                  </a:txBody>
                  <a:tcPr marL="63500" marR="63500" marT="63500" marB="63500" anchor="ctr"/>
                </a:tc>
                <a:tc>
                  <a:txBody>
                    <a:bodyPr/>
                    <a:lstStyle/>
                    <a:p>
                      <a:r>
                        <a:rPr lang="en-US" sz="1300" b="1">
                          <a:solidFill>
                            <a:schemeClr val="tx1"/>
                          </a:solidFill>
                          <a:latin typeface="Cambria" pitchFamily="18" charset="0"/>
                          <a:ea typeface="Cambria" pitchFamily="18" charset="0"/>
                        </a:rPr>
                        <a:t>Required</a:t>
                      </a:r>
                      <a:r>
                        <a:rPr lang="en-US" sz="1300">
                          <a:solidFill>
                            <a:schemeClr val="tx1"/>
                          </a:solidFill>
                          <a:latin typeface="Cambria" pitchFamily="18" charset="0"/>
                          <a:ea typeface="Cambria" pitchFamily="18" charset="0"/>
                        </a:rPr>
                        <a:t> to allow TensorFlow to use the NVIDIA GPU for acceleration.</a:t>
                      </a:r>
                    </a:p>
                  </a:txBody>
                  <a:tcPr marL="63500" marR="63500" marT="63500" marB="63500" anchor="ctr"/>
                </a:tc>
              </a:tr>
              <a:tr h="527713">
                <a:tc>
                  <a:txBody>
                    <a:bodyPr/>
                    <a:lstStyle/>
                    <a:p>
                      <a:r>
                        <a:rPr lang="en-US" sz="1300" b="1">
                          <a:solidFill>
                            <a:schemeClr val="tx1"/>
                          </a:solidFill>
                          <a:latin typeface="Cambria" pitchFamily="18" charset="0"/>
                          <a:ea typeface="Cambria" pitchFamily="18" charset="0"/>
                        </a:rPr>
                        <a:t>Development Environment</a:t>
                      </a:r>
                      <a:endParaRPr lang="en-US" sz="1300">
                        <a:solidFill>
                          <a:schemeClr val="tx1"/>
                        </a:solidFill>
                        <a:latin typeface="Cambria" pitchFamily="18" charset="0"/>
                        <a:ea typeface="Cambria" pitchFamily="18" charset="0"/>
                      </a:endParaRPr>
                    </a:p>
                  </a:txBody>
                  <a:tcPr marR="63500" marT="63500" marB="63500" anchor="ctr"/>
                </a:tc>
                <a:tc>
                  <a:txBody>
                    <a:bodyPr/>
                    <a:lstStyle/>
                    <a:p>
                      <a:r>
                        <a:rPr lang="en-US" sz="1300" dirty="0" err="1">
                          <a:solidFill>
                            <a:schemeClr val="tx1"/>
                          </a:solidFill>
                          <a:latin typeface="Cambria" pitchFamily="18" charset="0"/>
                          <a:ea typeface="Cambria" pitchFamily="18" charset="0"/>
                        </a:rPr>
                        <a:t>Jupyter</a:t>
                      </a:r>
                      <a:r>
                        <a:rPr lang="en-US" sz="1300" dirty="0">
                          <a:solidFill>
                            <a:schemeClr val="tx1"/>
                          </a:solidFill>
                          <a:latin typeface="Cambria" pitchFamily="18" charset="0"/>
                          <a:ea typeface="Cambria" pitchFamily="18" charset="0"/>
                        </a:rPr>
                        <a:t> Notebook / Lab, VS Code, or </a:t>
                      </a:r>
                      <a:r>
                        <a:rPr lang="en-US" sz="1300" dirty="0" err="1">
                          <a:solidFill>
                            <a:schemeClr val="tx1"/>
                          </a:solidFill>
                          <a:latin typeface="Cambria" pitchFamily="18" charset="0"/>
                          <a:ea typeface="Cambria" pitchFamily="18" charset="0"/>
                        </a:rPr>
                        <a:t>PyCharm</a:t>
                      </a:r>
                      <a:endParaRPr lang="en-US" sz="1300" dirty="0">
                        <a:solidFill>
                          <a:schemeClr val="tx1"/>
                        </a:solidFill>
                        <a:latin typeface="Cambria" pitchFamily="18" charset="0"/>
                        <a:ea typeface="Cambria" pitchFamily="18" charset="0"/>
                      </a:endParaRPr>
                    </a:p>
                  </a:txBody>
                  <a:tcPr marL="63500" marR="63500" marT="63500" marB="63500" anchor="ctr"/>
                </a:tc>
                <a:tc>
                  <a:txBody>
                    <a:bodyPr/>
                    <a:lstStyle/>
                    <a:p>
                      <a:r>
                        <a:rPr lang="en-US" sz="1300" dirty="0">
                          <a:solidFill>
                            <a:schemeClr val="tx1"/>
                          </a:solidFill>
                          <a:latin typeface="Cambria" pitchFamily="18" charset="0"/>
                          <a:ea typeface="Cambria" pitchFamily="18" charset="0"/>
                        </a:rPr>
                        <a:t>Choose an IDE for writing and executing code.</a:t>
                      </a:r>
                    </a:p>
                  </a:txBody>
                  <a:tcPr marL="63500" marR="63500" marT="63500" marB="63500" anchor="ctr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xmlns="" val="20004557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7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800"/>
              <a:buFont typeface="Verdana"/>
              <a:buNone/>
            </a:pPr>
            <a:r>
              <a:rPr lang="en-GB" dirty="0" smtClean="0">
                <a:latin typeface="Cambria" panose="02040503050406030204" pitchFamily="18" charset="0"/>
                <a:ea typeface="Cambria" panose="02040503050406030204" pitchFamily="18" charset="0"/>
              </a:rPr>
              <a:t>Timeline of the Project (Gantt Chart)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15" name="Google Shape;115;p17"/>
          <p:cNvSpPr txBox="1">
            <a:spLocks noGrp="1"/>
          </p:cNvSpPr>
          <p:nvPr>
            <p:ph type="body" idx="1"/>
          </p:nvPr>
        </p:nvSpPr>
        <p:spPr>
          <a:xfrm>
            <a:off x="812800" y="1143000"/>
            <a:ext cx="10668000" cy="49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lvl="0" indent="-19050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dirty="0" smtClean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pic>
        <p:nvPicPr>
          <p:cNvPr id="7" name="Picture 6" descr="ganttpi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5873" y="1371600"/>
            <a:ext cx="10141471" cy="37768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4798902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22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/>
            <a:r>
              <a:rPr lang="en-GB" dirty="0">
                <a:latin typeface="Cambria" panose="02040503050406030204" pitchFamily="18" charset="0"/>
                <a:ea typeface="Cambria" panose="02040503050406030204" pitchFamily="18" charset="0"/>
              </a:rPr>
              <a:t>References (IEEE Paper </a:t>
            </a:r>
            <a:r>
              <a:rPr lang="en-GB" dirty="0" smtClean="0">
                <a:latin typeface="Cambria" panose="02040503050406030204" pitchFamily="18" charset="0"/>
                <a:ea typeface="Cambria" panose="02040503050406030204" pitchFamily="18" charset="0"/>
              </a:rPr>
              <a:t>format)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45" name="Google Shape;145;p22"/>
          <p:cNvSpPr txBox="1">
            <a:spLocks noGrp="1"/>
          </p:cNvSpPr>
          <p:nvPr>
            <p:ph type="body" idx="1"/>
          </p:nvPr>
        </p:nvSpPr>
        <p:spPr>
          <a:xfrm>
            <a:off x="812800" y="1143001"/>
            <a:ext cx="10668000" cy="49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152400" indent="0">
              <a:spcBef>
                <a:spcPts val="0"/>
              </a:spcBef>
              <a:buNone/>
            </a:pPr>
            <a:endParaRPr lang="en-US" dirty="0" smtClean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609600" lvl="1" indent="0">
              <a:spcBef>
                <a:spcPts val="0"/>
              </a:spcBef>
              <a:buNone/>
            </a:pPr>
            <a:r>
              <a:rPr lang="en-US" dirty="0" smtClean="0"/>
              <a:t>[1]. </a:t>
            </a:r>
            <a:r>
              <a:rPr lang="en-US" dirty="0" smtClean="0"/>
              <a:t>A. Kumar, B. R. Patel, and C. Zhang, “Plant disease identification using </a:t>
            </a:r>
            <a:r>
              <a:rPr lang="en-US" dirty="0" err="1" smtClean="0"/>
              <a:t>convolutional</a:t>
            </a:r>
            <a:r>
              <a:rPr lang="en-US" dirty="0" smtClean="0"/>
              <a:t> neural networks,” </a:t>
            </a:r>
            <a:r>
              <a:rPr lang="en-US" i="1" dirty="0" smtClean="0"/>
              <a:t>IEEE Access</a:t>
            </a:r>
            <a:r>
              <a:rPr lang="en-US" dirty="0" smtClean="0"/>
              <a:t>, vol. 9, pp. 34567–34578, Mar. 2021.</a:t>
            </a:r>
            <a:endParaRPr lang="en-US" dirty="0" smtClean="0"/>
          </a:p>
          <a:p>
            <a:pPr marL="609600" lvl="1" indent="0">
              <a:spcBef>
                <a:spcPts val="0"/>
              </a:spcBef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609600" lvl="1" indent="0">
              <a:spcBef>
                <a:spcPts val="0"/>
              </a:spcBef>
              <a:buNone/>
            </a:pPr>
            <a:r>
              <a:rPr lang="en-US" dirty="0" smtClean="0"/>
              <a:t>[2</a:t>
            </a:r>
            <a:r>
              <a:rPr lang="en-US" dirty="0" smtClean="0"/>
              <a:t>].</a:t>
            </a:r>
            <a:r>
              <a:rPr lang="en-US" dirty="0" smtClean="0"/>
              <a:t> </a:t>
            </a:r>
            <a:r>
              <a:rPr lang="en-US" dirty="0" err="1" smtClean="0"/>
              <a:t>Radhakrishnan</a:t>
            </a:r>
            <a:r>
              <a:rPr lang="en-US" dirty="0" smtClean="0"/>
              <a:t>, M. (2025). </a:t>
            </a:r>
            <a:r>
              <a:rPr lang="en-US" dirty="0" smtClean="0"/>
              <a:t>“Implementation </a:t>
            </a:r>
            <a:r>
              <a:rPr lang="en-US" dirty="0" smtClean="0"/>
              <a:t>of Explainable AI in Deep Learning Methods for Multiclass Classification of Plant Diseases in Mango </a:t>
            </a:r>
            <a:r>
              <a:rPr lang="en-US" dirty="0" smtClean="0"/>
              <a:t>Leaves”. </a:t>
            </a:r>
            <a:r>
              <a:rPr lang="en-US" dirty="0" smtClean="0"/>
              <a:t>Electronic Letters on Computer Vision and Image Analysis, 24, 104–117. </a:t>
            </a:r>
            <a:endParaRPr lang="en-US" dirty="0" smtClean="0"/>
          </a:p>
          <a:p>
            <a:pPr marL="609600" lvl="1" indent="0">
              <a:spcBef>
                <a:spcPts val="0"/>
              </a:spcBef>
              <a:buNone/>
            </a:pPr>
            <a:r>
              <a:rPr lang="en-US" dirty="0" smtClean="0"/>
              <a:t>[3] </a:t>
            </a:r>
            <a:r>
              <a:rPr lang="en-US" dirty="0" err="1" smtClean="0"/>
              <a:t>Md</a:t>
            </a:r>
            <a:r>
              <a:rPr lang="en-US" dirty="0" smtClean="0"/>
              <a:t> </a:t>
            </a:r>
            <a:r>
              <a:rPr lang="en-US" dirty="0" err="1" smtClean="0"/>
              <a:t>Humaion</a:t>
            </a:r>
            <a:r>
              <a:rPr lang="en-US" dirty="0" smtClean="0"/>
              <a:t> </a:t>
            </a:r>
            <a:r>
              <a:rPr lang="en-US" dirty="0" err="1" smtClean="0"/>
              <a:t>Kabir</a:t>
            </a:r>
            <a:r>
              <a:rPr lang="en-US" dirty="0" smtClean="0"/>
              <a:t> </a:t>
            </a:r>
            <a:r>
              <a:rPr lang="en-US" dirty="0" err="1" smtClean="0"/>
              <a:t>Mehedi</a:t>
            </a:r>
            <a:r>
              <a:rPr lang="en-US" dirty="0" smtClean="0"/>
              <a:t> , A.K.M. </a:t>
            </a:r>
            <a:r>
              <a:rPr lang="en-US" dirty="0" err="1" smtClean="0"/>
              <a:t>Salman</a:t>
            </a:r>
            <a:r>
              <a:rPr lang="en-US" dirty="0" smtClean="0"/>
              <a:t> </a:t>
            </a:r>
            <a:r>
              <a:rPr lang="en-US" dirty="0" err="1" smtClean="0"/>
              <a:t>Hosain</a:t>
            </a:r>
            <a:r>
              <a:rPr lang="en-US" dirty="0" smtClean="0"/>
              <a:t> , </a:t>
            </a:r>
            <a:r>
              <a:rPr lang="en-US" dirty="0" err="1" smtClean="0"/>
              <a:t>Shafi</a:t>
            </a:r>
            <a:r>
              <a:rPr lang="en-US" dirty="0" smtClean="0"/>
              <a:t> Ahmed , </a:t>
            </a:r>
            <a:r>
              <a:rPr lang="en-US" dirty="0" err="1" smtClean="0"/>
              <a:t>Samanta</a:t>
            </a:r>
            <a:r>
              <a:rPr lang="en-US" dirty="0" smtClean="0"/>
              <a:t> </a:t>
            </a:r>
            <a:r>
              <a:rPr lang="en-US" dirty="0" err="1" smtClean="0"/>
              <a:t>Tabassum</a:t>
            </a:r>
            <a:r>
              <a:rPr lang="en-US" dirty="0" smtClean="0"/>
              <a:t> </a:t>
            </a:r>
            <a:r>
              <a:rPr lang="en-US" dirty="0" err="1" smtClean="0"/>
              <a:t>Promita</a:t>
            </a:r>
            <a:r>
              <a:rPr lang="en-US" dirty="0" smtClean="0"/>
              <a:t> , </a:t>
            </a:r>
            <a:r>
              <a:rPr lang="en-US" dirty="0" err="1" smtClean="0"/>
              <a:t>Rabeya</a:t>
            </a:r>
            <a:r>
              <a:rPr lang="en-US" dirty="0" smtClean="0"/>
              <a:t> </a:t>
            </a:r>
            <a:r>
              <a:rPr lang="en-US" dirty="0" err="1" smtClean="0"/>
              <a:t>Khatun</a:t>
            </a:r>
            <a:r>
              <a:rPr lang="en-US" dirty="0" smtClean="0"/>
              <a:t> </a:t>
            </a:r>
            <a:r>
              <a:rPr lang="en-US" dirty="0" err="1" smtClean="0"/>
              <a:t>Muna</a:t>
            </a:r>
            <a:r>
              <a:rPr lang="en-US" dirty="0" smtClean="0"/>
              <a:t> , </a:t>
            </a:r>
            <a:r>
              <a:rPr lang="en-US" dirty="0" err="1" smtClean="0"/>
              <a:t>Mehedi</a:t>
            </a:r>
            <a:r>
              <a:rPr lang="en-US" dirty="0" smtClean="0"/>
              <a:t> </a:t>
            </a:r>
            <a:r>
              <a:rPr lang="en-US" dirty="0" err="1" smtClean="0"/>
              <a:t>Hasan</a:t>
            </a:r>
            <a:r>
              <a:rPr lang="en-US" dirty="0" smtClean="0"/>
              <a:t> , and </a:t>
            </a:r>
            <a:r>
              <a:rPr lang="en-US" dirty="0" err="1" smtClean="0"/>
              <a:t>Md</a:t>
            </a:r>
            <a:r>
              <a:rPr lang="en-US" dirty="0" smtClean="0"/>
              <a:t> </a:t>
            </a:r>
            <a:r>
              <a:rPr lang="en-US" dirty="0" err="1" smtClean="0"/>
              <a:t>Tanzim</a:t>
            </a:r>
            <a:r>
              <a:rPr lang="en-US" dirty="0" smtClean="0"/>
              <a:t> Reza, ”Plant Leaf Disease Detection using Transfer Learn </a:t>
            </a:r>
            <a:r>
              <a:rPr lang="en-US" dirty="0" err="1" smtClean="0"/>
              <a:t>ing</a:t>
            </a:r>
            <a:r>
              <a:rPr lang="en-US" dirty="0" smtClean="0"/>
              <a:t> and Explainable AI”, IEEE 13th Annual Information Technology, Electronics and Mobile Communication Conference (IEMCON), 2022.</a:t>
            </a:r>
            <a:endParaRPr lang="en-US" dirty="0" smtClean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152400" indent="0">
              <a:spcBef>
                <a:spcPts val="0"/>
              </a:spcBef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152400" indent="0">
              <a:spcBef>
                <a:spcPts val="0"/>
              </a:spcBef>
              <a:buNone/>
            </a:pP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xmlns="" id="{C63A00FF-89F0-DC87-D900-930227B33E5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82811" y="1441315"/>
            <a:ext cx="3893305" cy="3935471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Bioinformatics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1124</TotalTime>
  <Words>631</Words>
  <Application>Microsoft Office PowerPoint</Application>
  <PresentationFormat>Custom</PresentationFormat>
  <Paragraphs>127</Paragraphs>
  <Slides>10</Slides>
  <Notes>10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1" baseType="lpstr">
      <vt:lpstr>Bioinformatics</vt:lpstr>
      <vt:lpstr>PSCS_150 Student Innovation (Mango leaf  Disease  Detection Using Deep Learning)</vt:lpstr>
      <vt:lpstr>Problem Statement Number:PSCS_3 </vt:lpstr>
      <vt:lpstr>Content</vt:lpstr>
      <vt:lpstr>Analysis of Problem Statement</vt:lpstr>
      <vt:lpstr>Github Link</vt:lpstr>
      <vt:lpstr>Analysis of Problem Statement (contd...)</vt:lpstr>
      <vt:lpstr>Analysis of Problem Statement (contd...)</vt:lpstr>
      <vt:lpstr>Timeline of the Project (Gantt Chart)</vt:lpstr>
      <vt:lpstr>References (IEEE Paper format)</vt:lpstr>
      <vt:lpstr>Slide 10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PROJECT TITLE</dc:title>
  <dc:creator>Admin</dc:creator>
  <cp:lastModifiedBy>Admin</cp:lastModifiedBy>
  <cp:revision>48</cp:revision>
  <dcterms:modified xsi:type="dcterms:W3CDTF">2025-08-20T08:33:49Z</dcterms:modified>
</cp:coreProperties>
</file>