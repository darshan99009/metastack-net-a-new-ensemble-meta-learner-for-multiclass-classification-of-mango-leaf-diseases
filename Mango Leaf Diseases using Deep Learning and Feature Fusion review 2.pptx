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57" r:id="rId3"/>
    <p:sldId id="269" r:id="rId4"/>
    <p:sldId id="285" r:id="rId5"/>
    <p:sldId id="273" r:id="rId6"/>
    <p:sldId id="286" r:id="rId7"/>
    <p:sldId id="275" r:id="rId8"/>
    <p:sldId id="276" r:id="rId9"/>
    <p:sldId id="278" r:id="rId10"/>
    <p:sldId id="281" r:id="rId11"/>
    <p:sldId id="282" r:id="rId12"/>
    <p:sldId id="270"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24" y="-6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 xmlns:a16="http://schemas.microsoft.com/office/drawing/2014/main" id="{D614C128-0038-BA90-A283-8814F8A81993}"/>
            </a:ext>
          </a:extLst>
        </p:cNvPr>
        <p:cNvGrpSpPr/>
        <p:nvPr/>
      </p:nvGrpSpPr>
      <p:grpSpPr>
        <a:xfrm>
          <a:off x="0" y="0"/>
          <a:ext cx="0" cy="0"/>
          <a:chOff x="0" y="0"/>
          <a:chExt cx="0" cy="0"/>
        </a:xfrm>
      </p:grpSpPr>
      <p:sp>
        <p:nvSpPr>
          <p:cNvPr id="93" name="Google Shape;93;p2:notes">
            <a:extLst>
              <a:ext uri="{FF2B5EF4-FFF2-40B4-BE49-F238E27FC236}">
                <a16:creationId xmlns="" xmlns:a16="http://schemas.microsoft.com/office/drawing/2014/main" id="{4E2C1BC8-057C-1661-54AA-FC18150C86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 xmlns:a16="http://schemas.microsoft.com/office/drawing/2014/main" id="{B042CF48-42FA-7DD7-D602-A2F5058E67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526444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 xmlns:a16="http://schemas.microsoft.com/office/drawing/2014/main" id="{43BFE08D-98E4-4439-220C-1BA07206497E}"/>
            </a:ext>
          </a:extLst>
        </p:cNvPr>
        <p:cNvGrpSpPr/>
        <p:nvPr/>
      </p:nvGrpSpPr>
      <p:grpSpPr>
        <a:xfrm>
          <a:off x="0" y="0"/>
          <a:ext cx="0" cy="0"/>
          <a:chOff x="0" y="0"/>
          <a:chExt cx="0" cy="0"/>
        </a:xfrm>
      </p:grpSpPr>
      <p:sp>
        <p:nvSpPr>
          <p:cNvPr id="111" name="Google Shape;111;p5:notes">
            <a:extLst>
              <a:ext uri="{FF2B5EF4-FFF2-40B4-BE49-F238E27FC236}">
                <a16:creationId xmlns="" xmlns:a16="http://schemas.microsoft.com/office/drawing/2014/main" id="{879AC530-1289-B082-B3A4-C8894872E4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 xmlns:a16="http://schemas.microsoft.com/office/drawing/2014/main" id="{7C281E85-4ABC-F838-DCAF-56AFA70175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275270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 xmlns:a16="http://schemas.microsoft.com/office/drawing/2014/main" id="{DB491AAC-D7DE-431B-6461-5FEC148B4A1E}"/>
            </a:ext>
          </a:extLst>
        </p:cNvPr>
        <p:cNvGrpSpPr/>
        <p:nvPr/>
      </p:nvGrpSpPr>
      <p:grpSpPr>
        <a:xfrm>
          <a:off x="0" y="0"/>
          <a:ext cx="0" cy="0"/>
          <a:chOff x="0" y="0"/>
          <a:chExt cx="0" cy="0"/>
        </a:xfrm>
      </p:grpSpPr>
      <p:sp>
        <p:nvSpPr>
          <p:cNvPr id="111" name="Google Shape;111;p5:notes">
            <a:extLst>
              <a:ext uri="{FF2B5EF4-FFF2-40B4-BE49-F238E27FC236}">
                <a16:creationId xmlns="" xmlns:a16="http://schemas.microsoft.com/office/drawing/2014/main" id="{EA5F7B6C-5762-C3F6-FBB4-3B22B75C94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 xmlns:a16="http://schemas.microsoft.com/office/drawing/2014/main" id="{C05E70DD-9137-9242-01B0-36DE143127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797921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 xmlns:a16="http://schemas.microsoft.com/office/drawing/2014/main" id="{C5A3E272-9875-B3E2-2453-8902A666733A}"/>
            </a:ext>
          </a:extLst>
        </p:cNvPr>
        <p:cNvGrpSpPr/>
        <p:nvPr/>
      </p:nvGrpSpPr>
      <p:grpSpPr>
        <a:xfrm>
          <a:off x="0" y="0"/>
          <a:ext cx="0" cy="0"/>
          <a:chOff x="0" y="0"/>
          <a:chExt cx="0" cy="0"/>
        </a:xfrm>
      </p:grpSpPr>
      <p:sp>
        <p:nvSpPr>
          <p:cNvPr id="111" name="Google Shape;111;p5:notes">
            <a:extLst>
              <a:ext uri="{FF2B5EF4-FFF2-40B4-BE49-F238E27FC236}">
                <a16:creationId xmlns="" xmlns:a16="http://schemas.microsoft.com/office/drawing/2014/main" id="{1A9A53E2-468B-B41A-CAD7-6B2C2D91B4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 xmlns:a16="http://schemas.microsoft.com/office/drawing/2014/main" id="{56D80598-1DD1-4B0E-5B31-2CC08094E9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490616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 xmlns:a16="http://schemas.microsoft.com/office/drawing/2014/main" id="{39CF76EA-B859-F2DD-D742-CFFF2CFFD4C4}"/>
            </a:ext>
          </a:extLst>
        </p:cNvPr>
        <p:cNvGrpSpPr/>
        <p:nvPr/>
      </p:nvGrpSpPr>
      <p:grpSpPr>
        <a:xfrm>
          <a:off x="0" y="0"/>
          <a:ext cx="0" cy="0"/>
          <a:chOff x="0" y="0"/>
          <a:chExt cx="0" cy="0"/>
        </a:xfrm>
      </p:grpSpPr>
      <p:sp>
        <p:nvSpPr>
          <p:cNvPr id="111" name="Google Shape;111;p5:notes">
            <a:extLst>
              <a:ext uri="{FF2B5EF4-FFF2-40B4-BE49-F238E27FC236}">
                <a16:creationId xmlns="" xmlns:a16="http://schemas.microsoft.com/office/drawing/2014/main" id="{406F2D83-1827-625E-E755-2CBACB3889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 xmlns:a16="http://schemas.microsoft.com/office/drawing/2014/main" id="{661C439E-16B6-5D4A-DC45-DCBA60D51E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4045967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 xmlns:a16="http://schemas.microsoft.com/office/drawing/2014/main" id="{8354BDE5-B1CA-ADB0-7FBE-84C16172F600}"/>
            </a:ext>
          </a:extLst>
        </p:cNvPr>
        <p:cNvGrpSpPr/>
        <p:nvPr/>
      </p:nvGrpSpPr>
      <p:grpSpPr>
        <a:xfrm>
          <a:off x="0" y="0"/>
          <a:ext cx="0" cy="0"/>
          <a:chOff x="0" y="0"/>
          <a:chExt cx="0" cy="0"/>
        </a:xfrm>
      </p:grpSpPr>
      <p:sp>
        <p:nvSpPr>
          <p:cNvPr id="111" name="Google Shape;111;p5:notes">
            <a:extLst>
              <a:ext uri="{FF2B5EF4-FFF2-40B4-BE49-F238E27FC236}">
                <a16:creationId xmlns="" xmlns:a16="http://schemas.microsoft.com/office/drawing/2014/main" id="{B0D12EE6-2D97-7212-9586-8B562B44EC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 xmlns:a16="http://schemas.microsoft.com/office/drawing/2014/main" id="{B27D18E5-00DA-E68D-72A4-46F26DAF4C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682820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 xmlns:a16="http://schemas.microsoft.com/office/drawing/2014/main" id="{83F1A856-9F22-9E3B-97DE-16E99FF7C2CA}"/>
            </a:ext>
          </a:extLst>
        </p:cNvPr>
        <p:cNvGrpSpPr/>
        <p:nvPr/>
      </p:nvGrpSpPr>
      <p:grpSpPr>
        <a:xfrm>
          <a:off x="0" y="0"/>
          <a:ext cx="0" cy="0"/>
          <a:chOff x="0" y="0"/>
          <a:chExt cx="0" cy="0"/>
        </a:xfrm>
      </p:grpSpPr>
      <p:sp>
        <p:nvSpPr>
          <p:cNvPr id="111" name="Google Shape;111;p5:notes">
            <a:extLst>
              <a:ext uri="{FF2B5EF4-FFF2-40B4-BE49-F238E27FC236}">
                <a16:creationId xmlns="" xmlns:a16="http://schemas.microsoft.com/office/drawing/2014/main" id="{6C94D810-248C-29A9-E898-6A9207A338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 xmlns:a16="http://schemas.microsoft.com/office/drawing/2014/main" id="{B5E72CB5-0FE1-C83E-7F63-C4D4DEF999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2443564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215593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812431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US" sz="2000" dirty="0">
                <a:solidFill>
                  <a:schemeClr val="tx1"/>
                </a:solidFill>
                <a:latin typeface="Calisto MT" pitchFamily="18" charset="0"/>
                <a:ea typeface="Cambria" panose="02040503050406030204" pitchFamily="18" charset="0"/>
              </a:rPr>
              <a:t>PSCS_150 Student Innovation (Mango leaf  Disease  Detection Using Deep Learning)</a:t>
            </a:r>
            <a:endParaRPr sz="2000" dirty="0">
              <a:solidFill>
                <a:schemeClr val="tx1"/>
              </a:solidFill>
              <a:latin typeface="Calisto MT"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listo MT" pitchFamily="18" charset="0"/>
                <a:ea typeface="Cambria" panose="02040503050406030204" pitchFamily="18" charset="0"/>
              </a:rPr>
              <a:t>Batch Number: </a:t>
            </a:r>
            <a:r>
              <a:rPr lang="en-GB" sz="1800" dirty="0">
                <a:solidFill>
                  <a:schemeClr val="tx1"/>
                </a:solidFill>
                <a:latin typeface="Calisto MT" pitchFamily="18" charset="0"/>
                <a:ea typeface="Cambria" panose="02040503050406030204" pitchFamily="18" charset="0"/>
              </a:rPr>
              <a:t>IST_34</a:t>
            </a:r>
            <a:endParaRPr sz="1800" dirty="0">
              <a:solidFill>
                <a:schemeClr val="tx1"/>
              </a:solidFill>
              <a:latin typeface="Calisto MT" pitchFamily="18" charset="0"/>
              <a:ea typeface="Cambria" panose="02040503050406030204" pitchFamily="18" charset="0"/>
            </a:endParaRPr>
          </a:p>
        </p:txBody>
      </p:sp>
      <p:sp>
        <p:nvSpPr>
          <p:cNvPr id="90" name="Google Shape;90;p13"/>
          <p:cNvSpPr txBox="1"/>
          <p:nvPr/>
        </p:nvSpPr>
        <p:spPr>
          <a:xfrm>
            <a:off x="6480195" y="2597652"/>
            <a:ext cx="5514300" cy="1936248"/>
          </a:xfrm>
          <a:prstGeom prst="rect">
            <a:avLst/>
          </a:prstGeom>
          <a:noFill/>
          <a:ln>
            <a:noFill/>
          </a:ln>
        </p:spPr>
        <p:txBody>
          <a:bodyPr spcFirstLastPara="1" wrap="square" lIns="91425" tIns="45700" rIns="91425" bIns="45700" anchor="t" anchorCtr="0">
            <a:normAutofit lnSpcReduction="10000"/>
          </a:bodyPr>
          <a:lstStyle/>
          <a:p>
            <a:pPr lvl="0" algn="ctr">
              <a:buClr>
                <a:srgbClr val="17365D"/>
              </a:buClr>
              <a:buSzPts val="2000"/>
            </a:pPr>
            <a:r>
              <a:rPr lang="en-US" sz="2000" b="1" dirty="0">
                <a:solidFill>
                  <a:srgbClr val="17365D"/>
                </a:solidFill>
                <a:latin typeface="Calisto MT" pitchFamily="18" charset="0"/>
                <a:ea typeface="Cambria" panose="02040503050406030204" pitchFamily="18" charset="0"/>
                <a:cs typeface="Verdana"/>
                <a:sym typeface="Verdana"/>
              </a:rPr>
              <a:t>Under the Supervision of,</a:t>
            </a:r>
            <a:endParaRPr lang="en-US" sz="2000" dirty="0">
              <a:latin typeface="Calisto MT" pitchFamily="18" charset="0"/>
              <a:ea typeface="Cambria" panose="02040503050406030204" pitchFamily="18" charset="0"/>
            </a:endParaRPr>
          </a:p>
          <a:p>
            <a:pPr lvl="0" algn="ctr">
              <a:spcBef>
                <a:spcPts val="400"/>
              </a:spcBef>
              <a:buClr>
                <a:srgbClr val="17365D"/>
              </a:buClr>
              <a:buSzPts val="2000"/>
            </a:pPr>
            <a:endParaRPr lang="en-US" sz="2400" b="1" dirty="0">
              <a:solidFill>
                <a:srgbClr val="17365D"/>
              </a:solidFill>
              <a:latin typeface="Calisto MT" pitchFamily="18" charset="0"/>
              <a:ea typeface="Cambria" panose="02040503050406030204" pitchFamily="18" charset="0"/>
              <a:cs typeface="Verdana"/>
              <a:sym typeface="Verdana"/>
            </a:endParaRPr>
          </a:p>
          <a:p>
            <a:pPr lvl="0" algn="ctr">
              <a:spcBef>
                <a:spcPts val="340"/>
              </a:spcBef>
              <a:buClr>
                <a:srgbClr val="17365D"/>
              </a:buClr>
              <a:buSzPts val="1700"/>
            </a:pPr>
            <a:r>
              <a:rPr lang="en-US" sz="1800" b="1" dirty="0">
                <a:solidFill>
                  <a:srgbClr val="17365D"/>
                </a:solidFill>
                <a:latin typeface="Calisto MT" pitchFamily="18" charset="0"/>
                <a:ea typeface="Cambria" panose="02040503050406030204" pitchFamily="18" charset="0"/>
                <a:cs typeface="Verdana"/>
                <a:sym typeface="Verdana"/>
              </a:rPr>
              <a:t>Dr. Vignesh R</a:t>
            </a:r>
            <a:endParaRPr lang="en-US" sz="1800" dirty="0">
              <a:latin typeface="Calisto MT" pitchFamily="18" charset="0"/>
              <a:ea typeface="Cambria" panose="02040503050406030204" pitchFamily="18" charset="0"/>
            </a:endParaRPr>
          </a:p>
          <a:p>
            <a:pPr lvl="0" algn="ctr">
              <a:spcBef>
                <a:spcPts val="340"/>
              </a:spcBef>
              <a:buClr>
                <a:srgbClr val="17365D"/>
              </a:buClr>
              <a:buSzPts val="1700"/>
            </a:pPr>
            <a:r>
              <a:rPr lang="en-US" sz="1800" b="1" dirty="0">
                <a:solidFill>
                  <a:srgbClr val="17365D"/>
                </a:solidFill>
                <a:latin typeface="Calisto MT" pitchFamily="18" charset="0"/>
                <a:ea typeface="Cambria" panose="02040503050406030204" pitchFamily="18" charset="0"/>
                <a:cs typeface="Verdana"/>
                <a:sym typeface="Verdana"/>
              </a:rPr>
              <a:t>Assistant Professor</a:t>
            </a:r>
            <a:endParaRPr lang="en-US" sz="1800" dirty="0">
              <a:latin typeface="Calisto MT" pitchFamily="18" charset="0"/>
              <a:ea typeface="Cambria" panose="02040503050406030204" pitchFamily="18" charset="0"/>
            </a:endParaRPr>
          </a:p>
          <a:p>
            <a:pPr lvl="0" algn="ctr">
              <a:spcBef>
                <a:spcPts val="340"/>
              </a:spcBef>
              <a:buClr>
                <a:srgbClr val="17365D"/>
              </a:buClr>
              <a:buSzPts val="1700"/>
            </a:pPr>
            <a:r>
              <a:rPr lang="en-US" sz="1800" b="1" dirty="0">
                <a:solidFill>
                  <a:srgbClr val="17365D"/>
                </a:solidFill>
                <a:latin typeface="Calisto MT" pitchFamily="18" charset="0"/>
                <a:ea typeface="Cambria" panose="02040503050406030204" pitchFamily="18" charset="0"/>
                <a:cs typeface="Verdana"/>
                <a:sym typeface="Verdana"/>
              </a:rPr>
              <a:t>School of Computer Science and Engineering</a:t>
            </a:r>
            <a:endParaRPr lang="en-US" sz="1800" dirty="0">
              <a:latin typeface="Calisto MT" pitchFamily="18" charset="0"/>
              <a:ea typeface="Cambria" panose="02040503050406030204" pitchFamily="18" charset="0"/>
            </a:endParaRPr>
          </a:p>
          <a:p>
            <a:pPr lvl="0" algn="ctr">
              <a:spcBef>
                <a:spcPts val="340"/>
              </a:spcBef>
              <a:buClr>
                <a:srgbClr val="17365D"/>
              </a:buClr>
              <a:buSzPts val="1700"/>
            </a:pPr>
            <a:r>
              <a:rPr lang="en-US" sz="1800" b="1" dirty="0">
                <a:solidFill>
                  <a:srgbClr val="17365D"/>
                </a:solidFill>
                <a:latin typeface="Calisto MT" pitchFamily="18" charset="0"/>
                <a:ea typeface="Cambria" panose="02040503050406030204" pitchFamily="18" charset="0"/>
                <a:cs typeface="Verdana"/>
                <a:sym typeface="Verdana"/>
              </a:rPr>
              <a:t>Presidency University</a:t>
            </a:r>
            <a:endParaRPr lang="en-US" sz="1800" dirty="0">
              <a:latin typeface="Calisto MT"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listo MT"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 xmlns:p14="http://schemas.microsoft.com/office/powerpoint/2010/main" val="3232359633"/>
              </p:ext>
            </p:extLst>
          </p:nvPr>
        </p:nvGraphicFramePr>
        <p:xfrm>
          <a:off x="553347" y="2597652"/>
          <a:ext cx="5418675" cy="2743260"/>
        </p:xfrm>
        <a:graphic>
          <a:graphicData uri="http://schemas.openxmlformats.org/drawingml/2006/table">
            <a:tbl>
              <a:tblPr firstRow="1" bandRow="1">
                <a:noFill/>
                <a:tableStyleId>{57690726-49DA-4552-BDEB-330DD8EA8BD9}</a:tableStyleId>
              </a:tblPr>
              <a:tblGrid>
                <a:gridCol w="2085000">
                  <a:extLst>
                    <a:ext uri="{9D8B030D-6E8A-4147-A177-3AD203B41FA5}">
                      <a16:colId xmlns="" xmlns:a16="http://schemas.microsoft.com/office/drawing/2014/main" val="20000"/>
                    </a:ext>
                  </a:extLst>
                </a:gridCol>
                <a:gridCol w="3333675">
                  <a:extLst>
                    <a:ext uri="{9D8B030D-6E8A-4147-A177-3AD203B41FA5}">
                      <a16:colId xmlns="" xmlns:a16="http://schemas.microsoft.com/office/drawing/2014/main" val="20001"/>
                    </a:ext>
                  </a:extLst>
                </a:gridCol>
              </a:tblGrid>
              <a:tr h="235717">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0"/>
                  </a:ext>
                </a:extLst>
              </a:tr>
              <a:tr h="483353">
                <a:tc>
                  <a:txBody>
                    <a:bodyPr/>
                    <a:lstStyle/>
                    <a:p>
                      <a:pPr marL="0" marR="0" lvl="0" indent="0" algn="ctr" rtl="0">
                        <a:spcBef>
                          <a:spcPts val="0"/>
                        </a:spcBef>
                        <a:spcAft>
                          <a:spcPts val="0"/>
                        </a:spcAft>
                        <a:buFont typeface="+mj-lt"/>
                        <a:buNone/>
                      </a:pPr>
                      <a:r>
                        <a:rPr lang="en-US" sz="1800" u="none" strike="noStrike" cap="none" dirty="0">
                          <a:latin typeface="Cambria" panose="02040503050406030204" pitchFamily="18" charset="0"/>
                          <a:ea typeface="Cambria" panose="02040503050406030204" pitchFamily="18" charset="0"/>
                        </a:rPr>
                        <a:t>20221IST0055</a:t>
                      </a:r>
                    </a:p>
                    <a:p>
                      <a:pPr marL="0" marR="0" lvl="0" indent="0" algn="ctr" rtl="0">
                        <a:spcBef>
                          <a:spcPts val="0"/>
                        </a:spcBef>
                        <a:spcAft>
                          <a:spcPts val="0"/>
                        </a:spcAft>
                        <a:buFont typeface="+mj-lt"/>
                        <a:buNone/>
                      </a:pPr>
                      <a:r>
                        <a:rPr lang="en-US" sz="1800" u="none" strike="noStrike" cap="none" dirty="0">
                          <a:latin typeface="Cambria" panose="02040503050406030204" pitchFamily="18" charset="0"/>
                          <a:ea typeface="Cambria" panose="02040503050406030204" pitchFamily="18" charset="0"/>
                        </a:rPr>
                        <a:t>20221IST0069</a:t>
                      </a:r>
                    </a:p>
                    <a:p>
                      <a:pPr marL="0" marR="0" lvl="0" indent="0" algn="ctr" rtl="0">
                        <a:spcBef>
                          <a:spcPts val="0"/>
                        </a:spcBef>
                        <a:spcAft>
                          <a:spcPts val="0"/>
                        </a:spcAft>
                        <a:buFont typeface="+mj-lt"/>
                        <a:buNone/>
                      </a:pPr>
                      <a:r>
                        <a:rPr lang="en-US" sz="1800" u="none" strike="noStrike" cap="none" dirty="0">
                          <a:latin typeface="Cambria" panose="02040503050406030204" pitchFamily="18" charset="0"/>
                          <a:ea typeface="Cambria" panose="02040503050406030204" pitchFamily="18" charset="0"/>
                        </a:rPr>
                        <a:t>20221IST0112</a:t>
                      </a: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Darshan Gowda </a:t>
                      </a:r>
                      <a:r>
                        <a:rPr lang="en-US" sz="1800" u="none" strike="noStrike" cap="none" dirty="0" smtClean="0"/>
                        <a:t>S</a:t>
                      </a:r>
                      <a:endParaRPr lang="en-US" sz="1800" u="none" strike="noStrike" cap="none" dirty="0"/>
                    </a:p>
                    <a:p>
                      <a:pPr marL="0" marR="0" lvl="0" indent="0" algn="ctr" rtl="0">
                        <a:spcBef>
                          <a:spcPts val="0"/>
                        </a:spcBef>
                        <a:spcAft>
                          <a:spcPts val="0"/>
                        </a:spcAft>
                        <a:buNone/>
                      </a:pPr>
                      <a:r>
                        <a:rPr lang="en-US" sz="1800" u="none" strike="noStrike" cap="none" dirty="0" smtClean="0"/>
                        <a:t>Chethan </a:t>
                      </a:r>
                      <a:r>
                        <a:rPr lang="en-US" sz="1800" u="none" strike="noStrike" cap="none" dirty="0"/>
                        <a:t>C</a:t>
                      </a:r>
                    </a:p>
                    <a:p>
                      <a:pPr marL="0" marR="0" lvl="0" indent="0" algn="ctr" rtl="0">
                        <a:spcBef>
                          <a:spcPts val="0"/>
                        </a:spcBef>
                        <a:spcAft>
                          <a:spcPts val="0"/>
                        </a:spcAft>
                        <a:buNone/>
                      </a:pPr>
                      <a:r>
                        <a:rPr lang="en-US" sz="1800" u="none" strike="noStrike" cap="none" dirty="0"/>
                        <a:t>Chirag Gowda </a:t>
                      </a:r>
                      <a:r>
                        <a:rPr lang="en-US" sz="1800" u="none" strike="noStrike" cap="none" dirty="0" smtClean="0"/>
                        <a:t>S V</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1"/>
                  </a:ext>
                </a:extLst>
              </a:tr>
              <a:tr h="23571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2"/>
                  </a:ext>
                </a:extLst>
              </a:tr>
              <a:tr h="23571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3"/>
                  </a:ext>
                </a:extLst>
              </a:tr>
              <a:tr h="23571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4"/>
                  </a:ext>
                </a:extLst>
              </a:tr>
              <a:tr h="23571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listo MT" pitchFamily="18" charset="0"/>
                <a:ea typeface="Cambria" panose="02040503050406030204" pitchFamily="18" charset="0"/>
                <a:cs typeface="Verdana"/>
                <a:sym typeface="Verdana"/>
              </a:rPr>
              <a:t>CSE7101-</a:t>
            </a:r>
            <a:r>
              <a:rPr lang="en-GB" sz="1800" b="1" i="0" u="none" strike="noStrike" cap="none" dirty="0">
                <a:solidFill>
                  <a:srgbClr val="17365D"/>
                </a:solidFill>
                <a:latin typeface="Calisto MT" pitchFamily="18" charset="0"/>
                <a:ea typeface="Cambria" panose="02040503050406030204" pitchFamily="18" charset="0"/>
                <a:cs typeface="Verdana"/>
                <a:sym typeface="Verdana"/>
              </a:rPr>
              <a:t> Capstone Project</a:t>
            </a:r>
            <a:endParaRPr sz="1800" dirty="0">
              <a:latin typeface="Calisto MT"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listo MT" pitchFamily="18" charset="0"/>
                <a:ea typeface="Cambria" panose="02040503050406030204" pitchFamily="18" charset="0"/>
                <a:cs typeface="Verdana"/>
                <a:sym typeface="Verdana"/>
              </a:rPr>
              <a:t>Review-2</a:t>
            </a:r>
            <a:endParaRPr sz="1800" b="1" i="0" u="none" strike="noStrike" cap="none" dirty="0">
              <a:solidFill>
                <a:srgbClr val="17365D"/>
              </a:solidFill>
              <a:latin typeface="Calisto MT" pitchFamily="18" charset="0"/>
              <a:ea typeface="Cambria" panose="02040503050406030204" pitchFamily="18" charset="0"/>
              <a:cs typeface="Verdana"/>
              <a:sym typeface="Verdana"/>
            </a:endParaRPr>
          </a:p>
        </p:txBody>
      </p:sp>
      <p:sp>
        <p:nvSpPr>
          <p:cNvPr id="8" name="Google Shape;91;p13"/>
          <p:cNvSpPr txBox="1"/>
          <p:nvPr/>
        </p:nvSpPr>
        <p:spPr>
          <a:xfrm>
            <a:off x="197505" y="4559862"/>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dirty="0">
                <a:solidFill>
                  <a:schemeClr val="accent1"/>
                </a:solidFill>
                <a:latin typeface="Calisto MT" pitchFamily="18" charset="0"/>
                <a:ea typeface="Cambria" panose="02040503050406030204" pitchFamily="18" charset="0"/>
                <a:cs typeface="Verdana"/>
                <a:sym typeface="Verdana"/>
              </a:rPr>
              <a:t>Name of the Program: Capstone Project(CSE7101)</a:t>
            </a:r>
          </a:p>
          <a:p>
            <a:pPr lvl="0">
              <a:buClr>
                <a:srgbClr val="17365D"/>
              </a:buClr>
              <a:buSzPct val="100000"/>
            </a:pPr>
            <a:r>
              <a:rPr lang="en-US" sz="1800" b="1" dirty="0">
                <a:solidFill>
                  <a:schemeClr val="accent1"/>
                </a:solidFill>
                <a:latin typeface="Calisto MT" pitchFamily="18" charset="0"/>
                <a:ea typeface="Cambria" panose="02040503050406030204" pitchFamily="18" charset="0"/>
                <a:cs typeface="Verdana"/>
                <a:sym typeface="Verdana"/>
              </a:rPr>
              <a:t>Name of the </a:t>
            </a:r>
            <a:r>
              <a:rPr lang="en-US" sz="1800" b="1" dirty="0" err="1">
                <a:solidFill>
                  <a:schemeClr val="accent1"/>
                </a:solidFill>
                <a:latin typeface="Calisto MT" pitchFamily="18" charset="0"/>
                <a:ea typeface="Cambria" panose="02040503050406030204" pitchFamily="18" charset="0"/>
                <a:cs typeface="Verdana"/>
                <a:sym typeface="Verdana"/>
              </a:rPr>
              <a:t>HoD</a:t>
            </a:r>
            <a:r>
              <a:rPr lang="en-US" sz="1800" b="1" dirty="0">
                <a:solidFill>
                  <a:schemeClr val="accent1"/>
                </a:solidFill>
                <a:latin typeface="Calisto MT" pitchFamily="18" charset="0"/>
                <a:ea typeface="Cambria" panose="02040503050406030204" pitchFamily="18" charset="0"/>
                <a:cs typeface="Verdana"/>
                <a:sym typeface="Verdana"/>
              </a:rPr>
              <a:t>: </a:t>
            </a:r>
            <a:r>
              <a:rPr lang="en-US" sz="1800" b="1" dirty="0">
                <a:solidFill>
                  <a:srgbClr val="FF0000"/>
                </a:solidFill>
                <a:latin typeface="Calisto MT" pitchFamily="18" charset="0"/>
                <a:ea typeface="Cambria" panose="02040503050406030204" pitchFamily="18" charset="0"/>
                <a:cs typeface="Verdana"/>
                <a:sym typeface="Verdana"/>
              </a:rPr>
              <a:t>Dr. Pallavi R</a:t>
            </a:r>
          </a:p>
          <a:p>
            <a:pPr lvl="0">
              <a:buClr>
                <a:srgbClr val="17365D"/>
              </a:buClr>
              <a:buSzPct val="100000"/>
            </a:pPr>
            <a:r>
              <a:rPr lang="en-US" sz="1800" b="1" dirty="0">
                <a:solidFill>
                  <a:schemeClr val="accent1"/>
                </a:solidFill>
                <a:latin typeface="Calisto MT" pitchFamily="18" charset="0"/>
                <a:ea typeface="Cambria" panose="02040503050406030204" pitchFamily="18" charset="0"/>
                <a:cs typeface="Verdana"/>
                <a:sym typeface="Verdana"/>
              </a:rPr>
              <a:t>Name of the Program Project Coordinator: </a:t>
            </a:r>
            <a:r>
              <a:rPr lang="en-US" sz="1800" b="1" dirty="0">
                <a:solidFill>
                  <a:srgbClr val="FF0000"/>
                </a:solidFill>
                <a:latin typeface="Calisto MT" pitchFamily="18" charset="0"/>
                <a:ea typeface="Cambria" panose="02040503050406030204" pitchFamily="18" charset="0"/>
                <a:cs typeface="Verdana"/>
                <a:sym typeface="Verdana"/>
              </a:rPr>
              <a:t>Ms. Benitha </a:t>
            </a:r>
            <a:r>
              <a:rPr lang="en-US" sz="1800" b="1" dirty="0" err="1">
                <a:solidFill>
                  <a:srgbClr val="FF0000"/>
                </a:solidFill>
                <a:latin typeface="Calisto MT" pitchFamily="18" charset="0"/>
                <a:ea typeface="Cambria" panose="02040503050406030204" pitchFamily="18" charset="0"/>
                <a:cs typeface="Verdana"/>
                <a:sym typeface="Verdana"/>
              </a:rPr>
              <a:t>Christinal</a:t>
            </a:r>
            <a:r>
              <a:rPr lang="en-US" sz="1800" b="1" dirty="0">
                <a:solidFill>
                  <a:srgbClr val="FF0000"/>
                </a:solidFill>
                <a:latin typeface="Calisto MT" pitchFamily="18" charset="0"/>
                <a:ea typeface="Cambria" panose="02040503050406030204" pitchFamily="18" charset="0"/>
                <a:cs typeface="Verdana"/>
                <a:sym typeface="Verdana"/>
              </a:rPr>
              <a:t> J</a:t>
            </a:r>
          </a:p>
          <a:p>
            <a:pPr lvl="0">
              <a:buClr>
                <a:srgbClr val="17365D"/>
              </a:buClr>
              <a:buSzPct val="100000"/>
            </a:pPr>
            <a:r>
              <a:rPr lang="en-US" sz="1800" b="1" dirty="0">
                <a:solidFill>
                  <a:schemeClr val="accent1"/>
                </a:solidFill>
                <a:latin typeface="Calisto MT" pitchFamily="18" charset="0"/>
                <a:ea typeface="Cambria" panose="02040503050406030204" pitchFamily="18" charset="0"/>
                <a:cs typeface="Verdana"/>
                <a:sym typeface="Verdana"/>
              </a:rPr>
              <a:t>Name of the School Project Coordinators: </a:t>
            </a:r>
            <a:r>
              <a:rPr lang="en-US" sz="1800" b="1" dirty="0">
                <a:solidFill>
                  <a:schemeClr val="tx1"/>
                </a:solidFill>
                <a:latin typeface="Calisto MT" pitchFamily="18" charset="0"/>
                <a:ea typeface="Cambria" panose="02040503050406030204" pitchFamily="18" charset="0"/>
                <a:cs typeface="Verdana"/>
                <a:sym typeface="Verdana"/>
              </a:rPr>
              <a:t>Dr. Sampath A K , Dr. Geetha A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itchFamily="18" charset="0"/>
                <a:ea typeface="Cambria" pitchFamily="18" charset="0"/>
              </a:rPr>
              <a:t>Content</a:t>
            </a:r>
            <a:endParaRPr dirty="0">
              <a:latin typeface="Cambria" pitchFamily="18" charset="0"/>
              <a:ea typeface="Cambria" pitchFamily="18" charset="0"/>
            </a:endParaRPr>
          </a:p>
        </p:txBody>
      </p:sp>
      <p:sp>
        <p:nvSpPr>
          <p:cNvPr id="97" name="Google Shape;97;p14"/>
          <p:cNvSpPr txBox="1">
            <a:spLocks noGrp="1"/>
          </p:cNvSpPr>
          <p:nvPr>
            <p:ph type="body" idx="1"/>
          </p:nvPr>
        </p:nvSpPr>
        <p:spPr>
          <a:xfrm>
            <a:off x="655782" y="1083365"/>
            <a:ext cx="10668000" cy="5002125"/>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sz="1600" b="1" dirty="0">
                <a:latin typeface="Cambria" pitchFamily="18" charset="0"/>
                <a:ea typeface="Cambria" pitchFamily="18" charset="0"/>
              </a:rPr>
              <a:t>Problem Statement</a:t>
            </a:r>
          </a:p>
          <a:p>
            <a:pPr marL="495300" indent="-342900" algn="just">
              <a:lnSpc>
                <a:spcPct val="200000"/>
              </a:lnSpc>
              <a:spcBef>
                <a:spcPts val="0"/>
              </a:spcBef>
              <a:buFont typeface="Arial" panose="020B0604020202020204" pitchFamily="34" charset="0"/>
              <a:buChar char="•"/>
            </a:pPr>
            <a:r>
              <a:rPr lang="en-IN" sz="1600" b="1" dirty="0">
                <a:latin typeface="Cambria" pitchFamily="18" charset="0"/>
                <a:ea typeface="Cambria" pitchFamily="18" charset="0"/>
              </a:rPr>
              <a:t>Abstract</a:t>
            </a:r>
            <a:endParaRPr lang="en-US" sz="1600" b="1" dirty="0">
              <a:latin typeface="Cambria" pitchFamily="18" charset="0"/>
              <a:ea typeface="Cambria" pitchFamily="18" charset="0"/>
            </a:endParaRPr>
          </a:p>
          <a:p>
            <a:pPr marL="495300" indent="-342900" algn="just">
              <a:lnSpc>
                <a:spcPct val="200000"/>
              </a:lnSpc>
              <a:spcBef>
                <a:spcPts val="0"/>
              </a:spcBef>
              <a:buFont typeface="Arial" panose="020B0604020202020204" pitchFamily="34" charset="0"/>
              <a:buChar char="•"/>
            </a:pPr>
            <a:r>
              <a:rPr lang="en-IN" sz="1600" b="1" dirty="0">
                <a:latin typeface="Cambria" pitchFamily="18" charset="0"/>
                <a:ea typeface="Cambria" pitchFamily="18" charset="0"/>
              </a:rPr>
              <a:t>Literature Survey</a:t>
            </a:r>
            <a:endParaRPr lang="en-US" sz="1600" b="1" dirty="0">
              <a:latin typeface="Cambria" pitchFamily="18" charset="0"/>
              <a:ea typeface="Cambria" pitchFamily="18" charset="0"/>
            </a:endParaRPr>
          </a:p>
          <a:p>
            <a:pPr marL="495300" lvl="0" indent="-342900" algn="just">
              <a:lnSpc>
                <a:spcPct val="200000"/>
              </a:lnSpc>
              <a:spcBef>
                <a:spcPts val="0"/>
              </a:spcBef>
              <a:buFont typeface="Arial" panose="020B0604020202020204" pitchFamily="34" charset="0"/>
              <a:buChar char="•"/>
            </a:pPr>
            <a:r>
              <a:rPr lang="en-IN" sz="1600" b="1" dirty="0">
                <a:latin typeface="Cambria" pitchFamily="18" charset="0"/>
                <a:ea typeface="Cambria" pitchFamily="18" charset="0"/>
              </a:rPr>
              <a:t>Objectives</a:t>
            </a:r>
          </a:p>
          <a:p>
            <a:pPr marL="495300" lvl="0" indent="-342900" algn="just">
              <a:lnSpc>
                <a:spcPct val="200000"/>
              </a:lnSpc>
              <a:spcBef>
                <a:spcPts val="0"/>
              </a:spcBef>
              <a:buFont typeface="Arial" panose="020B0604020202020204" pitchFamily="34" charset="0"/>
              <a:buChar char="•"/>
            </a:pPr>
            <a:r>
              <a:rPr lang="en-IN" sz="1600" b="1" dirty="0">
                <a:latin typeface="Cambria" pitchFamily="18" charset="0"/>
                <a:ea typeface="Cambria" pitchFamily="18" charset="0"/>
              </a:rPr>
              <a:t>Existing Methods and Drawbacks</a:t>
            </a:r>
            <a:endParaRPr lang="en-US" sz="1600" b="1" dirty="0">
              <a:latin typeface="Cambria" pitchFamily="18" charset="0"/>
              <a:ea typeface="Cambria" pitchFamily="18" charset="0"/>
            </a:endParaRPr>
          </a:p>
          <a:p>
            <a:pPr marL="495300" lvl="0" indent="-342900" algn="just">
              <a:lnSpc>
                <a:spcPct val="200000"/>
              </a:lnSpc>
              <a:spcBef>
                <a:spcPts val="0"/>
              </a:spcBef>
              <a:buFont typeface="Arial" panose="020B0604020202020204" pitchFamily="34" charset="0"/>
              <a:buChar char="•"/>
            </a:pPr>
            <a:r>
              <a:rPr lang="en-IN" sz="1600" b="1" dirty="0">
                <a:latin typeface="Cambria" pitchFamily="18" charset="0"/>
                <a:ea typeface="Cambria" pitchFamily="18" charset="0"/>
              </a:rPr>
              <a:t>Proposed Method &amp; Feasibility Study</a:t>
            </a:r>
          </a:p>
          <a:p>
            <a:pPr marL="495300" lvl="0" indent="-342900" algn="just">
              <a:lnSpc>
                <a:spcPct val="200000"/>
              </a:lnSpc>
              <a:spcBef>
                <a:spcPts val="0"/>
              </a:spcBef>
              <a:buFont typeface="Arial" panose="020B0604020202020204" pitchFamily="34" charset="0"/>
              <a:buChar char="•"/>
            </a:pPr>
            <a:r>
              <a:rPr lang="en-IN" sz="1600" b="1" dirty="0">
                <a:latin typeface="Cambria" pitchFamily="18" charset="0"/>
                <a:ea typeface="Cambria" pitchFamily="18" charset="0"/>
              </a:rPr>
              <a:t>Modules</a:t>
            </a:r>
          </a:p>
          <a:p>
            <a:pPr marL="495300" lvl="0" indent="-342900" algn="just">
              <a:lnSpc>
                <a:spcPct val="200000"/>
              </a:lnSpc>
              <a:spcBef>
                <a:spcPts val="0"/>
              </a:spcBef>
              <a:buFont typeface="Arial" panose="020B0604020202020204" pitchFamily="34" charset="0"/>
              <a:buChar char="•"/>
            </a:pPr>
            <a:r>
              <a:rPr lang="en-IN" sz="1600" b="1" dirty="0">
                <a:latin typeface="Cambria" pitchFamily="18" charset="0"/>
                <a:ea typeface="Cambria" pitchFamily="18" charset="0"/>
              </a:rPr>
              <a:t>Hardware and Software Details</a:t>
            </a:r>
          </a:p>
          <a:p>
            <a:pPr marL="495300" lvl="0" indent="-342900" algn="just">
              <a:lnSpc>
                <a:spcPct val="200000"/>
              </a:lnSpc>
              <a:spcBef>
                <a:spcPts val="0"/>
              </a:spcBef>
              <a:buFont typeface="Arial" panose="020B0604020202020204" pitchFamily="34" charset="0"/>
              <a:buChar char="•"/>
            </a:pPr>
            <a:r>
              <a:rPr lang="en-IN" sz="1600" b="1" dirty="0">
                <a:latin typeface="Cambria" pitchFamily="18" charset="0"/>
                <a:ea typeface="Cambria" pitchFamily="18" charset="0"/>
              </a:rPr>
              <a:t>Timeline (Gantt Chart)</a:t>
            </a:r>
          </a:p>
          <a:p>
            <a:pPr marL="495300" lvl="0" indent="-342900" algn="just">
              <a:lnSpc>
                <a:spcPct val="200000"/>
              </a:lnSpc>
              <a:spcBef>
                <a:spcPts val="0"/>
              </a:spcBef>
              <a:buFont typeface="Arial" panose="020B0604020202020204" pitchFamily="34" charset="0"/>
              <a:buChar char="•"/>
            </a:pPr>
            <a:r>
              <a:rPr lang="en-IN" sz="1600" b="1" dirty="0">
                <a:latin typeface="Cambria" pitchFamily="18" charset="0"/>
                <a:ea typeface="Cambria" pitchFamily="18" charset="0"/>
              </a:rPr>
              <a:t>References</a:t>
            </a:r>
            <a:endParaRPr lang="en-US" sz="1600" b="1" dirty="0">
              <a:latin typeface="Cambria" pitchFamily="18" charset="0"/>
              <a:ea typeface="Cambria"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1400" b="1" dirty="0">
              <a:latin typeface="Cambria" pitchFamily="18" charset="0"/>
              <a:ea typeface="Cambria"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1400" b="1" dirty="0">
              <a:latin typeface="Cambria" pitchFamily="18" charset="0"/>
              <a:ea typeface="Cambria"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PSCS_3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a:t>
            </a:r>
            <a:r>
              <a:rPr lang="en-US" b="1" dirty="0">
                <a:latin typeface="Cambria" pitchFamily="18" charset="0"/>
                <a:ea typeface="Cambria" pitchFamily="18" charset="0"/>
              </a:rPr>
              <a:t>AICTE, MIC-Student Innovation</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 </a:t>
            </a:r>
            <a:r>
              <a:rPr lang="en-US" b="1" dirty="0">
                <a:latin typeface="Cambria" panose="02040503050406030204" pitchFamily="18" charset="0"/>
                <a:ea typeface="Cambria" panose="02040503050406030204" pitchFamily="18" charset="0"/>
              </a:rPr>
              <a:t>Software</a:t>
            </a:r>
          </a:p>
          <a:p>
            <a:pPr marL="342900" lvl="0" indent="-190500" algn="just">
              <a:spcBef>
                <a:spcPts val="600"/>
              </a:spcBef>
              <a:buNone/>
            </a:pPr>
            <a:r>
              <a:rPr lang="en-US" b="1" dirty="0">
                <a:latin typeface="Cambria" panose="02040503050406030204" pitchFamily="18" charset="0"/>
                <a:ea typeface="Cambria" panose="02040503050406030204" pitchFamily="18" charset="0"/>
              </a:rPr>
              <a:t>Problem Description</a:t>
            </a:r>
            <a:r>
              <a:rPr lang="en-US" dirty="0">
                <a:latin typeface="Cambria" panose="02040503050406030204" pitchFamily="18" charset="0"/>
                <a:ea typeface="Cambria" panose="02040503050406030204" pitchFamily="18" charset="0"/>
              </a:rPr>
              <a:t>: Developing solutions, keeping in mind the need to enhance the primary sector of India - Agriculture and to manage and process our agriculture produce</a:t>
            </a:r>
          </a:p>
        </p:txBody>
      </p:sp>
    </p:spTree>
    <p:extLst>
      <p:ext uri="{BB962C8B-B14F-4D97-AF65-F5344CB8AC3E}">
        <p14:creationId xmlns=""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 xmlns:a16="http://schemas.microsoft.com/office/drawing/2014/main" id="{D2D0DCDF-AA66-0A0A-43E8-0AB93929B9BA}"/>
            </a:ext>
          </a:extLst>
        </p:cNvPr>
        <p:cNvGrpSpPr/>
        <p:nvPr/>
      </p:nvGrpSpPr>
      <p:grpSpPr>
        <a:xfrm>
          <a:off x="0" y="0"/>
          <a:ext cx="0" cy="0"/>
          <a:chOff x="0" y="0"/>
          <a:chExt cx="0" cy="0"/>
        </a:xfrm>
      </p:grpSpPr>
      <p:sp>
        <p:nvSpPr>
          <p:cNvPr id="96" name="Google Shape;96;p14">
            <a:extLst>
              <a:ext uri="{FF2B5EF4-FFF2-40B4-BE49-F238E27FC236}">
                <a16:creationId xmlns="" xmlns:a16="http://schemas.microsoft.com/office/drawing/2014/main" id="{B2278153-2014-8EC0-A4DC-CFA83FE598BA}"/>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Abstract</a:t>
            </a:r>
          </a:p>
        </p:txBody>
      </p:sp>
      <p:sp>
        <p:nvSpPr>
          <p:cNvPr id="97" name="Google Shape;97;p14">
            <a:extLst>
              <a:ext uri="{FF2B5EF4-FFF2-40B4-BE49-F238E27FC236}">
                <a16:creationId xmlns="" xmlns:a16="http://schemas.microsoft.com/office/drawing/2014/main" id="{4C1803E7-B87B-90F0-0E27-5567621746AE}"/>
              </a:ext>
            </a:extLst>
          </p:cNvPr>
          <p:cNvSpPr txBox="1">
            <a:spLocks noGrp="1"/>
          </p:cNvSpPr>
          <p:nvPr>
            <p:ph type="body" idx="1"/>
          </p:nvPr>
        </p:nvSpPr>
        <p:spPr>
          <a:xfrm>
            <a:off x="655782" y="1168099"/>
            <a:ext cx="11117118" cy="4771241"/>
          </a:xfrm>
          <a:prstGeom prst="rect">
            <a:avLst/>
          </a:prstGeom>
          <a:noFill/>
          <a:ln>
            <a:noFill/>
          </a:ln>
        </p:spPr>
        <p:txBody>
          <a:bodyPr spcFirstLastPara="1" wrap="square" lIns="91425" tIns="45700" rIns="91425" bIns="45700" anchor="t" anchorCtr="0">
            <a:noAutofit/>
          </a:bodyPr>
          <a:lstStyle/>
          <a:p>
            <a:pPr>
              <a:buNone/>
            </a:pPr>
            <a:r>
              <a:rPr lang="en-US" dirty="0" smtClean="0">
                <a:latin typeface="Cambria" pitchFamily="18" charset="0"/>
                <a:ea typeface="Cambria" pitchFamily="18" charset="0"/>
              </a:rPr>
              <a:t>This project addresses the critical problem of agricultural yield loss due to plant diseases, specifically focusing on the challenges of accurate and early detection of diseases in mango leaves. Traditional manual inspection methods are tedious, time-consuming, and often inaccurate. The primary objective is to design and implement a highly accurate, automated system for classifying seven common mango leaf diseases and healthy leaves. Our approach involves leveraging and fusing multiple deep </a:t>
            </a:r>
            <a:r>
              <a:rPr lang="en-US" dirty="0" err="1" smtClean="0">
                <a:latin typeface="Cambria" pitchFamily="18" charset="0"/>
                <a:ea typeface="Cambria" pitchFamily="18" charset="0"/>
              </a:rPr>
              <a:t>convolutional</a:t>
            </a:r>
            <a:r>
              <a:rPr lang="en-US" dirty="0" smtClean="0">
                <a:latin typeface="Cambria" pitchFamily="18" charset="0"/>
                <a:ea typeface="Cambria" pitchFamily="18" charset="0"/>
              </a:rPr>
              <a:t> neural networks (</a:t>
            </a:r>
            <a:r>
              <a:rPr lang="en-US" dirty="0" err="1" smtClean="0">
                <a:latin typeface="Cambria" pitchFamily="18" charset="0"/>
                <a:ea typeface="Cambria" pitchFamily="18" charset="0"/>
              </a:rPr>
              <a:t>AlexNet</a:t>
            </a:r>
            <a:r>
              <a:rPr lang="en-US" dirty="0" smtClean="0">
                <a:latin typeface="Cambria" pitchFamily="18" charset="0"/>
                <a:ea typeface="Cambria" pitchFamily="18" charset="0"/>
              </a:rPr>
              <a:t>, </a:t>
            </a:r>
            <a:r>
              <a:rPr lang="en-US" dirty="0" err="1" smtClean="0">
                <a:latin typeface="Cambria" pitchFamily="18" charset="0"/>
                <a:ea typeface="Cambria" pitchFamily="18" charset="0"/>
              </a:rPr>
              <a:t>ResNet</a:t>
            </a:r>
            <a:r>
              <a:rPr lang="en-US" dirty="0" smtClean="0">
                <a:latin typeface="Cambria" pitchFamily="18" charset="0"/>
                <a:ea typeface="Cambria" pitchFamily="18" charset="0"/>
              </a:rPr>
              <a:t>) for robust feature extraction and employing Explainable AI (Grad-CAM) to visualize the model's decision-making process. The proposed fused model achieved an impressive accuracy of </a:t>
            </a:r>
            <a:r>
              <a:rPr lang="en-US" b="1" dirty="0" smtClean="0">
                <a:latin typeface="Cambria" pitchFamily="18" charset="0"/>
                <a:ea typeface="Cambria" pitchFamily="18" charset="0"/>
              </a:rPr>
              <a:t>99.97%</a:t>
            </a:r>
            <a:r>
              <a:rPr lang="en-US" dirty="0" smtClean="0">
                <a:latin typeface="Cambria" pitchFamily="18" charset="0"/>
                <a:ea typeface="Cambria" pitchFamily="18" charset="0"/>
              </a:rPr>
              <a:t>, significantly outperforming individual models. This provides a reliable, transparent, and efficient tool for farmers to diagnose diseases, potentially reducing crop losses and improving mango production.</a:t>
            </a:r>
          </a:p>
          <a:p>
            <a:pPr lvl="0"/>
            <a:endParaRPr lang="en-IN" sz="1050" dirty="0">
              <a:latin typeface="Cambria" pitchFamily="18" charset="0"/>
              <a:ea typeface="Cambria" pitchFamily="18" charset="0"/>
            </a:endParaRPr>
          </a:p>
        </p:txBody>
      </p:sp>
    </p:spTree>
    <p:extLst>
      <p:ext uri="{BB962C8B-B14F-4D97-AF65-F5344CB8AC3E}">
        <p14:creationId xmlns="" xmlns:p14="http://schemas.microsoft.com/office/powerpoint/2010/main" val="381518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IN" dirty="0">
                <a:latin typeface="Cambria" panose="02040503050406030204" pitchFamily="18" charset="0"/>
                <a:ea typeface="Cambria" panose="02040503050406030204" pitchFamily="18" charset="0"/>
              </a:rPr>
              <a:t>Literature Survey</a:t>
            </a:r>
            <a:endParaRPr lang="en-US"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 xmlns:a16="http://schemas.microsoft.com/office/drawing/2014/main" id="{341FCAF0-366F-FE3F-CFB4-A46799D80B67}"/>
              </a:ext>
            </a:extLst>
          </p:cNvPr>
          <p:cNvSpPr>
            <a:spLocks noGrp="1" noChangeArrowheads="1"/>
          </p:cNvSpPr>
          <p:nvPr>
            <p:ph type="body" idx="1"/>
          </p:nvPr>
        </p:nvSpPr>
        <p:spPr bwMode="auto">
          <a:xfrm>
            <a:off x="419455" y="1252758"/>
            <a:ext cx="11353089" cy="42550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US" sz="1400" b="1" dirty="0"/>
              <a:t>Mehedi et al., "Plant Leaf Disease Detection using Transfer Learning and Explainable AI", IEMCON, 2022.</a:t>
            </a:r>
            <a:endParaRPr lang="en-IN" sz="1400" dirty="0"/>
          </a:p>
          <a:p>
            <a:pPr lvl="1"/>
            <a:r>
              <a:rPr lang="en-US" sz="1400" b="1" dirty="0"/>
              <a:t>Summary:</a:t>
            </a:r>
            <a:r>
              <a:rPr lang="en-US" sz="1400" dirty="0"/>
              <a:t> Explores transfer learning and XAI for plant disease detection, establishing the relevance of interpretability in agricultural AI.</a:t>
            </a:r>
            <a:endParaRPr lang="en-IN" sz="1400" dirty="0"/>
          </a:p>
          <a:p>
            <a:pPr lvl="1"/>
            <a:r>
              <a:rPr lang="en-US" sz="1400" b="1" dirty="0"/>
              <a:t>Critique/Relevance:</a:t>
            </a:r>
            <a:r>
              <a:rPr lang="en-US" sz="1400" dirty="0"/>
              <a:t> Directly supports our use of Grad-CAM but does not explore feature fusion of multiple architectures.</a:t>
            </a:r>
            <a:endParaRPr lang="en-IN" sz="1400" dirty="0"/>
          </a:p>
          <a:p>
            <a:pPr lvl="0"/>
            <a:r>
              <a:rPr lang="en-US" sz="1400" b="1" dirty="0"/>
              <a:t>Islam et al., "</a:t>
            </a:r>
            <a:r>
              <a:rPr lang="en-US" sz="1400" b="1" dirty="0" err="1"/>
              <a:t>DeepCrop</a:t>
            </a:r>
            <a:r>
              <a:rPr lang="en-US" sz="1400" b="1" dirty="0"/>
              <a:t>: Deep learning-based crop disease prediction with web application", Journal of Agriculture and Food </a:t>
            </a:r>
            <a:r>
              <a:rPr lang="en-US" sz="1400" b="1" dirty="0">
                <a:latin typeface="Cambria" pitchFamily="18" charset="0"/>
                <a:ea typeface="Cambria" pitchFamily="18" charset="0"/>
              </a:rPr>
              <a:t>Research</a:t>
            </a:r>
            <a:r>
              <a:rPr lang="en-US" sz="1400" b="1" dirty="0"/>
              <a:t>, 2023.</a:t>
            </a:r>
            <a:endParaRPr lang="en-IN" sz="1400" dirty="0"/>
          </a:p>
          <a:p>
            <a:pPr lvl="1"/>
            <a:r>
              <a:rPr lang="en-US" sz="1400" b="1" dirty="0"/>
              <a:t>Summary:</a:t>
            </a:r>
            <a:r>
              <a:rPr lang="en-US" sz="1400" dirty="0"/>
              <a:t> Develops an end-to-end deep learning system for crop disease prediction, including a practical web application.</a:t>
            </a:r>
            <a:endParaRPr lang="en-IN" sz="1400" dirty="0"/>
          </a:p>
          <a:p>
            <a:pPr lvl="1"/>
            <a:r>
              <a:rPr lang="en-US" sz="1400" b="1" dirty="0"/>
              <a:t>Critique/Relevance:</a:t>
            </a:r>
            <a:r>
              <a:rPr lang="en-US" sz="1400" dirty="0"/>
              <a:t> Highlights the trend towards deployable solutions but focuses on a different application framework.</a:t>
            </a:r>
            <a:endParaRPr lang="en-IN" sz="1400" dirty="0"/>
          </a:p>
          <a:p>
            <a:pPr lvl="0"/>
            <a:r>
              <a:rPr lang="en-US" sz="1400" b="1" dirty="0"/>
              <a:t>Alqahtani et al., "An improved deep learning approach for localization and recognition of plant leaf diseases", Expert Systems With Applications, 2023.</a:t>
            </a:r>
            <a:endParaRPr lang="en-IN" sz="1400" dirty="0"/>
          </a:p>
          <a:p>
            <a:pPr lvl="1"/>
            <a:r>
              <a:rPr lang="en-US" sz="1400" b="1" dirty="0"/>
              <a:t>Summary:</a:t>
            </a:r>
            <a:r>
              <a:rPr lang="en-US" sz="1400" dirty="0"/>
              <a:t> Focuses on improving both localization and recognition of diseases, addressing a key challenge in complex images.</a:t>
            </a:r>
            <a:endParaRPr lang="en-IN" sz="1400" dirty="0"/>
          </a:p>
          <a:p>
            <a:pPr lvl="1"/>
            <a:r>
              <a:rPr lang="en-US" sz="1400" b="1" dirty="0"/>
              <a:t>Critique/Relevance:</a:t>
            </a:r>
            <a:r>
              <a:rPr lang="en-US" sz="1400" dirty="0"/>
              <a:t> Complements our work by emphasizing accurate disease spotting, which our Grad-CAM visualization also addresses.</a:t>
            </a:r>
            <a:endParaRPr lang="en-IN" sz="1400" dirty="0"/>
          </a:p>
        </p:txBody>
      </p:sp>
    </p:spTree>
    <p:extLst>
      <p:ext uri="{BB962C8B-B14F-4D97-AF65-F5344CB8AC3E}">
        <p14:creationId xmlns=""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 xmlns:a16="http://schemas.microsoft.com/office/drawing/2014/main" id="{5C469C90-876A-C749-210C-845E2C71D9DA}"/>
            </a:ext>
          </a:extLst>
        </p:cNvPr>
        <p:cNvGrpSpPr/>
        <p:nvPr/>
      </p:nvGrpSpPr>
      <p:grpSpPr>
        <a:xfrm>
          <a:off x="0" y="0"/>
          <a:ext cx="0" cy="0"/>
          <a:chOff x="0" y="0"/>
          <a:chExt cx="0" cy="0"/>
        </a:xfrm>
      </p:grpSpPr>
      <p:sp>
        <p:nvSpPr>
          <p:cNvPr id="114" name="Google Shape;114;p17">
            <a:extLst>
              <a:ext uri="{FF2B5EF4-FFF2-40B4-BE49-F238E27FC236}">
                <a16:creationId xmlns="" xmlns:a16="http://schemas.microsoft.com/office/drawing/2014/main" id="{590F4F30-4F05-4F71-4503-156525BE7C7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IN" dirty="0">
                <a:latin typeface="Cambria" panose="02040503050406030204" pitchFamily="18" charset="0"/>
                <a:ea typeface="Cambria" panose="02040503050406030204" pitchFamily="18" charset="0"/>
              </a:rPr>
              <a:t>Literature Survey</a:t>
            </a:r>
            <a:endParaRPr lang="en-US"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 xmlns:a16="http://schemas.microsoft.com/office/drawing/2014/main" id="{3031DCE5-4733-3845-270F-8A00BEE51D7C}"/>
              </a:ext>
            </a:extLst>
          </p:cNvPr>
          <p:cNvSpPr>
            <a:spLocks noGrp="1" noChangeArrowheads="1"/>
          </p:cNvSpPr>
          <p:nvPr>
            <p:ph type="body" idx="1"/>
          </p:nvPr>
        </p:nvSpPr>
        <p:spPr bwMode="auto">
          <a:xfrm>
            <a:off x="405967" y="972035"/>
            <a:ext cx="11386102" cy="45858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58800" lvl="1" indent="0">
              <a:buNone/>
            </a:pPr>
            <a:endParaRPr lang="en-IN" sz="1400" dirty="0"/>
          </a:p>
          <a:p>
            <a:pPr lvl="0"/>
            <a:r>
              <a:rPr lang="en-US" sz="1400" b="1" dirty="0" err="1"/>
              <a:t>Mridha</a:t>
            </a:r>
            <a:r>
              <a:rPr lang="en-US" sz="1400" b="1" dirty="0"/>
              <a:t> et al., "Explainable Deep Learning for Coffee Leaf Disease Classification", ICDCECE, 2023.</a:t>
            </a:r>
            <a:endParaRPr lang="en-IN" sz="1400" dirty="0"/>
          </a:p>
          <a:p>
            <a:pPr lvl="1"/>
            <a:r>
              <a:rPr lang="en-US" sz="1400" b="1" dirty="0"/>
              <a:t>Summary:</a:t>
            </a:r>
            <a:r>
              <a:rPr lang="en-US" sz="1400" dirty="0"/>
              <a:t> Applies XAI techniques specifically for coffee leaf disease classification, demonstrating the domain-specific value of interpretability.</a:t>
            </a:r>
            <a:endParaRPr lang="en-IN" sz="1400" dirty="0"/>
          </a:p>
          <a:p>
            <a:pPr lvl="1"/>
            <a:r>
              <a:rPr lang="en-US" sz="1400" b="1" dirty="0"/>
              <a:t>Critique/Relevance:</a:t>
            </a:r>
            <a:r>
              <a:rPr lang="en-US" sz="1400" dirty="0"/>
              <a:t> Validates the application of XAI in agriculture, though for a different crop.</a:t>
            </a:r>
            <a:endParaRPr lang="en-IN" sz="1400" dirty="0"/>
          </a:p>
          <a:p>
            <a:pPr lvl="0"/>
            <a:r>
              <a:rPr lang="en-US" sz="1400" b="1" dirty="0"/>
              <a:t>Badiger &amp; Mathew, "Tomato plant leaf disease segmentation and multiclass disease detection...", Journal of Biotechnology, 2023.</a:t>
            </a:r>
            <a:endParaRPr lang="en-IN" sz="1400" dirty="0"/>
          </a:p>
          <a:p>
            <a:pPr lvl="1"/>
            <a:r>
              <a:rPr lang="en-US" sz="1400" b="1" dirty="0"/>
              <a:t>Summary:</a:t>
            </a:r>
            <a:r>
              <a:rPr lang="en-US" sz="1400" dirty="0"/>
              <a:t> Uses hybrid optimization with deep learning for disease detection in tomatoes, focusing on segmentation and classification.</a:t>
            </a:r>
            <a:endParaRPr lang="en-IN" sz="1400" dirty="0"/>
          </a:p>
          <a:p>
            <a:pPr lvl="1"/>
            <a:r>
              <a:rPr lang="en-US" sz="1400" b="1" dirty="0"/>
              <a:t>Critique/Relevance:</a:t>
            </a:r>
            <a:r>
              <a:rPr lang="en-US" sz="1400" dirty="0"/>
              <a:t> Introduces optimization techniques we did not explore but shares the goal of high multiclass accuracy.</a:t>
            </a:r>
            <a:endParaRPr lang="en-IN" sz="1400" dirty="0"/>
          </a:p>
          <a:p>
            <a:pPr lvl="0"/>
            <a:r>
              <a:rPr lang="en-US" sz="1400" b="1" dirty="0"/>
              <a:t>Dahiya et al., "Performance analysis of deep learning architectures for plant leaves disease detection", Measurement: Sensors, 2022.</a:t>
            </a:r>
            <a:endParaRPr lang="en-IN" sz="1400" dirty="0"/>
          </a:p>
          <a:p>
            <a:pPr lvl="1"/>
            <a:r>
              <a:rPr lang="en-US" sz="1400" b="1" dirty="0"/>
              <a:t>Summary:</a:t>
            </a:r>
            <a:r>
              <a:rPr lang="en-US" sz="1400" dirty="0"/>
              <a:t> Provides a comparative analysis of various DL architectures for plant disease detection.</a:t>
            </a:r>
            <a:endParaRPr lang="en-IN" sz="1400" dirty="0"/>
          </a:p>
          <a:p>
            <a:pPr lvl="1"/>
            <a:r>
              <a:rPr lang="en-US" sz="1400" b="1" dirty="0"/>
              <a:t>Critique/Relevance:</a:t>
            </a:r>
            <a:r>
              <a:rPr lang="en-US" sz="1400" dirty="0"/>
              <a:t> Directly informs our initial model selection (</a:t>
            </a:r>
            <a:r>
              <a:rPr lang="en-US" sz="1400" dirty="0" err="1"/>
              <a:t>AlexNet</a:t>
            </a:r>
            <a:r>
              <a:rPr lang="en-US" sz="1400" dirty="0"/>
              <a:t>, </a:t>
            </a:r>
            <a:r>
              <a:rPr lang="en-US" sz="1400" dirty="0" err="1"/>
              <a:t>ResNet</a:t>
            </a:r>
            <a:r>
              <a:rPr lang="en-US" sz="1400" dirty="0"/>
              <a:t>, VGG16) by highlighting their proven efficacy.</a:t>
            </a:r>
            <a:endParaRPr lang="en-IN" sz="1400" dirty="0"/>
          </a:p>
          <a:p>
            <a:pPr lvl="0"/>
            <a:r>
              <a:rPr lang="en-US" sz="1400" b="1" dirty="0"/>
              <a:t>Ahmed et al., "Less Is More: Lighter and Faster Deep Neural Architecture for Tomato Leaf Disease Classification", IEEE Access, 2022.</a:t>
            </a:r>
            <a:endParaRPr lang="en-IN" sz="1400" dirty="0"/>
          </a:p>
        </p:txBody>
      </p:sp>
    </p:spTree>
    <p:extLst>
      <p:ext uri="{BB962C8B-B14F-4D97-AF65-F5344CB8AC3E}">
        <p14:creationId xmlns="" xmlns:p14="http://schemas.microsoft.com/office/powerpoint/2010/main" val="96017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 xmlns:a16="http://schemas.microsoft.com/office/drawing/2014/main" id="{AF1F56F8-4F43-C9E8-EFF7-5B3768A7AB44}"/>
            </a:ext>
          </a:extLst>
        </p:cNvPr>
        <p:cNvGrpSpPr/>
        <p:nvPr/>
      </p:nvGrpSpPr>
      <p:grpSpPr>
        <a:xfrm>
          <a:off x="0" y="0"/>
          <a:ext cx="0" cy="0"/>
          <a:chOff x="0" y="0"/>
          <a:chExt cx="0" cy="0"/>
        </a:xfrm>
      </p:grpSpPr>
      <p:sp>
        <p:nvSpPr>
          <p:cNvPr id="114" name="Google Shape;114;p17">
            <a:extLst>
              <a:ext uri="{FF2B5EF4-FFF2-40B4-BE49-F238E27FC236}">
                <a16:creationId xmlns="" xmlns:a16="http://schemas.microsoft.com/office/drawing/2014/main" id="{A64A2BC7-D2F5-1088-58E1-139DDC4AE550}"/>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IN" dirty="0">
                <a:latin typeface="Cambria" panose="02040503050406030204" pitchFamily="18" charset="0"/>
                <a:ea typeface="Cambria" panose="02040503050406030204" pitchFamily="18" charset="0"/>
              </a:rPr>
              <a:t>Objectives</a:t>
            </a:r>
            <a:endParaRPr lang="en-US" dirty="0">
              <a:latin typeface="Cambria" panose="02040503050406030204" pitchFamily="18" charset="0"/>
              <a:ea typeface="Cambria" panose="02040503050406030204" pitchFamily="18" charset="0"/>
            </a:endParaRPr>
          </a:p>
        </p:txBody>
      </p:sp>
      <p:sp>
        <p:nvSpPr>
          <p:cNvPr id="4" name="Rectangle 2">
            <a:extLst>
              <a:ext uri="{FF2B5EF4-FFF2-40B4-BE49-F238E27FC236}">
                <a16:creationId xmlns="" xmlns:a16="http://schemas.microsoft.com/office/drawing/2014/main" id="{DB6744AF-2EBE-EACD-DB4A-3B2B91C84F32}"/>
              </a:ext>
            </a:extLst>
          </p:cNvPr>
          <p:cNvSpPr>
            <a:spLocks noGrp="1" noChangeArrowheads="1"/>
          </p:cNvSpPr>
          <p:nvPr>
            <p:ph type="body" idx="1"/>
          </p:nvPr>
        </p:nvSpPr>
        <p:spPr bwMode="auto">
          <a:xfrm>
            <a:off x="524204" y="839657"/>
            <a:ext cx="10956596" cy="535018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US" b="1" dirty="0"/>
              <a:t>Primary Objective:</a:t>
            </a:r>
            <a:r>
              <a:rPr lang="en-US" dirty="0"/>
              <a:t> To develop a highly accurate and explainable deep learning model for multiclass classification of diseases in mango leaves, achieving over 99% accuracy by fusing features from </a:t>
            </a:r>
            <a:r>
              <a:rPr lang="en-US" dirty="0" err="1"/>
              <a:t>ResNet</a:t>
            </a:r>
            <a:r>
              <a:rPr lang="en-US" dirty="0"/>
              <a:t> and </a:t>
            </a:r>
            <a:r>
              <a:rPr lang="en-US" dirty="0" err="1"/>
              <a:t>AlexNet</a:t>
            </a:r>
            <a:r>
              <a:rPr lang="en-US" dirty="0"/>
              <a:t> architectures.</a:t>
            </a:r>
            <a:endParaRPr lang="en-IN" sz="4000" dirty="0"/>
          </a:p>
          <a:p>
            <a:pPr lvl="0"/>
            <a:r>
              <a:rPr lang="en-US" b="1" dirty="0"/>
              <a:t>Secondary Objectives:</a:t>
            </a:r>
            <a:endParaRPr lang="en-IN" sz="4000" dirty="0"/>
          </a:p>
          <a:p>
            <a:pPr lvl="1"/>
            <a:r>
              <a:rPr lang="en-US" dirty="0"/>
              <a:t>To implement and evaluate individual state-of-the-art deep learning models (</a:t>
            </a:r>
            <a:r>
              <a:rPr lang="en-US" dirty="0" err="1"/>
              <a:t>AlexNet</a:t>
            </a:r>
            <a:r>
              <a:rPr lang="en-US" dirty="0"/>
              <a:t>, </a:t>
            </a:r>
            <a:r>
              <a:rPr lang="en-US" dirty="0" err="1"/>
              <a:t>ResNet</a:t>
            </a:r>
            <a:r>
              <a:rPr lang="en-US" dirty="0"/>
              <a:t>, VGG-16, Swin Transformer, </a:t>
            </a:r>
            <a:r>
              <a:rPr lang="en-US" dirty="0" err="1"/>
              <a:t>ViT</a:t>
            </a:r>
            <a:r>
              <a:rPr lang="en-US" dirty="0"/>
              <a:t>) on the mango leaf disease dataset.</a:t>
            </a:r>
            <a:endParaRPr lang="en-IN" sz="3600" dirty="0"/>
          </a:p>
          <a:p>
            <a:pPr lvl="1"/>
            <a:r>
              <a:rPr lang="en-US" dirty="0"/>
              <a:t>To implement a feature fusion framework to combine the strengths of the best-performing models.</a:t>
            </a:r>
            <a:endParaRPr lang="en-IN" sz="3600" dirty="0"/>
          </a:p>
          <a:p>
            <a:pPr lvl="1"/>
            <a:r>
              <a:rPr lang="en-US" dirty="0"/>
              <a:t>To integrate Gradient-weighted Class Activation Mapping (Grad-CAM) to provide visual explanations for the model's predictions, enhancing transparency and trust.</a:t>
            </a:r>
            <a:endParaRPr lang="en-IN" sz="3600" dirty="0"/>
          </a:p>
          <a:p>
            <a:pPr lvl="1"/>
            <a:r>
              <a:rPr lang="en-US" dirty="0"/>
              <a:t>To quantitatively compare the performance of all models and their fused combinations using accuracy, loss, and other relevant metrics.</a:t>
            </a:r>
            <a:endParaRPr lang="en-IN" sz="3600" dirty="0"/>
          </a:p>
        </p:txBody>
      </p:sp>
    </p:spTree>
    <p:extLst>
      <p:ext uri="{BB962C8B-B14F-4D97-AF65-F5344CB8AC3E}">
        <p14:creationId xmlns="" xmlns:p14="http://schemas.microsoft.com/office/powerpoint/2010/main" val="106113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 xmlns:a16="http://schemas.microsoft.com/office/drawing/2014/main" id="{67DFB64D-2A6D-683D-B4CE-E1C6FD2785F6}"/>
            </a:ext>
          </a:extLst>
        </p:cNvPr>
        <p:cNvGrpSpPr/>
        <p:nvPr/>
      </p:nvGrpSpPr>
      <p:grpSpPr>
        <a:xfrm>
          <a:off x="0" y="0"/>
          <a:ext cx="0" cy="0"/>
          <a:chOff x="0" y="0"/>
          <a:chExt cx="0" cy="0"/>
        </a:xfrm>
      </p:grpSpPr>
      <p:sp>
        <p:nvSpPr>
          <p:cNvPr id="114" name="Google Shape;114;p17">
            <a:extLst>
              <a:ext uri="{FF2B5EF4-FFF2-40B4-BE49-F238E27FC236}">
                <a16:creationId xmlns="" xmlns:a16="http://schemas.microsoft.com/office/drawing/2014/main" id="{F144DAB9-6AD5-0F8E-CB2B-CF9F422C9D7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IN" dirty="0">
                <a:latin typeface="Cambria" panose="02040503050406030204" pitchFamily="18" charset="0"/>
                <a:ea typeface="Cambria" panose="02040503050406030204" pitchFamily="18" charset="0"/>
              </a:rPr>
              <a:t>Existing Methods and Drawbacks</a:t>
            </a:r>
            <a:endParaRPr lang="en-US" dirty="0">
              <a:latin typeface="Cambria" panose="02040503050406030204" pitchFamily="18" charset="0"/>
              <a:ea typeface="Cambria" panose="02040503050406030204" pitchFamily="18" charset="0"/>
            </a:endParaRPr>
          </a:p>
        </p:txBody>
      </p:sp>
      <p:sp>
        <p:nvSpPr>
          <p:cNvPr id="4" name="Rectangle 2">
            <a:extLst>
              <a:ext uri="{FF2B5EF4-FFF2-40B4-BE49-F238E27FC236}">
                <a16:creationId xmlns="" xmlns:a16="http://schemas.microsoft.com/office/drawing/2014/main" id="{CF6DD82C-4F79-F543-FF20-67A921EBBA1A}"/>
              </a:ext>
            </a:extLst>
          </p:cNvPr>
          <p:cNvSpPr>
            <a:spLocks noGrp="1" noChangeArrowheads="1"/>
          </p:cNvSpPr>
          <p:nvPr>
            <p:ph type="body" idx="1"/>
          </p:nvPr>
        </p:nvSpPr>
        <p:spPr bwMode="auto">
          <a:xfrm>
            <a:off x="650328" y="1174331"/>
            <a:ext cx="10668001" cy="40421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US" sz="1600" b="1" dirty="0"/>
              <a:t>Traditional Machine Learning (SVM, Random Forest):</a:t>
            </a:r>
            <a:r>
              <a:rPr lang="en-US" sz="1600" dirty="0"/>
              <a:t> These methods require manual, hand-crafted feature extraction, which is time-consuming, requires domain expertise, and often fails to capture complex patterns in images, leading to lower accuracy compared to deep learning.</a:t>
            </a:r>
            <a:endParaRPr lang="en-IN" sz="1600" dirty="0"/>
          </a:p>
          <a:p>
            <a:pPr lvl="0"/>
            <a:r>
              <a:rPr lang="en-US" sz="1600" b="1" dirty="0"/>
              <a:t>Individual Deep Learning Models (e.g., Standalone </a:t>
            </a:r>
            <a:r>
              <a:rPr lang="en-US" sz="1600" b="1" dirty="0" err="1"/>
              <a:t>ResNet</a:t>
            </a:r>
            <a:r>
              <a:rPr lang="en-US" sz="1600" b="1" dirty="0"/>
              <a:t>, </a:t>
            </a:r>
            <a:r>
              <a:rPr lang="en-US" sz="1600" b="1" dirty="0" err="1"/>
              <a:t>AlexNet</a:t>
            </a:r>
            <a:r>
              <a:rPr lang="en-US" sz="1600" b="1" dirty="0"/>
              <a:t>):</a:t>
            </a:r>
            <a:r>
              <a:rPr lang="en-US" sz="1600" dirty="0"/>
              <a:t> While more accurate than ML methods, they have limitations. </a:t>
            </a:r>
            <a:r>
              <a:rPr lang="en-US" sz="1600" dirty="0" err="1"/>
              <a:t>AlexNet</a:t>
            </a:r>
            <a:r>
              <a:rPr lang="en-US" sz="1600" dirty="0"/>
              <a:t> may be too shallow to capture complex features, while very deep networks can sometimes be prone to overfitting or may not generalize perfectly. As shown in the paper, individual models had lower accuracies (</a:t>
            </a:r>
            <a:r>
              <a:rPr lang="en-US" sz="1600" dirty="0" err="1"/>
              <a:t>AlexNet</a:t>
            </a:r>
            <a:r>
              <a:rPr lang="en-US" sz="1600" dirty="0"/>
              <a:t>: 69.08%, </a:t>
            </a:r>
            <a:r>
              <a:rPr lang="en-US" sz="1600" dirty="0" err="1"/>
              <a:t>ResNet</a:t>
            </a:r>
            <a:r>
              <a:rPr lang="en-US" sz="1600" dirty="0"/>
              <a:t>: 91.33%).</a:t>
            </a:r>
            <a:endParaRPr lang="en-IN" sz="1600" dirty="0"/>
          </a:p>
          <a:p>
            <a:pPr lvl="0"/>
            <a:r>
              <a:rPr lang="en-US" sz="1600" b="1" dirty="0"/>
              <a:t>Lack of Explainability:</a:t>
            </a:r>
            <a:r>
              <a:rPr lang="en-US" sz="1600" dirty="0"/>
              <a:t> Existing high-accuracy models often operate as "black boxes," offering no insight into </a:t>
            </a:r>
            <a:r>
              <a:rPr lang="en-US" sz="1600" i="1" dirty="0"/>
              <a:t>why</a:t>
            </a:r>
            <a:r>
              <a:rPr lang="en-US" sz="1600" dirty="0"/>
              <a:t> a particular diagnosis was made. This lack of transparency hinders trust and adoption by end-users (e.g., farmers and agricultural experts).</a:t>
            </a:r>
            <a:endParaRPr lang="en-IN" sz="1600" dirty="0"/>
          </a:p>
          <a:p>
            <a:pPr lvl="0"/>
            <a:r>
              <a:rPr lang="en-US" sz="1600" b="1" dirty="0"/>
              <a:t>Scalability and Generalization:</a:t>
            </a:r>
            <a:r>
              <a:rPr lang="en-US" sz="1600" dirty="0"/>
              <a:t> Some proposed models are tailored to specific crops or diseases and may not generalize well to other species or real-world field conditions with clutter and noise.</a:t>
            </a:r>
            <a:endParaRPr lang="en-IN" sz="1600" dirty="0"/>
          </a:p>
        </p:txBody>
      </p:sp>
    </p:spTree>
    <p:extLst>
      <p:ext uri="{BB962C8B-B14F-4D97-AF65-F5344CB8AC3E}">
        <p14:creationId xmlns="" xmlns:p14="http://schemas.microsoft.com/office/powerpoint/2010/main" val="2386109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 xmlns:a16="http://schemas.microsoft.com/office/drawing/2014/main" id="{6EC5612A-C0AB-8C46-8AC7-24CA379FDAE1}"/>
            </a:ext>
          </a:extLst>
        </p:cNvPr>
        <p:cNvGrpSpPr/>
        <p:nvPr/>
      </p:nvGrpSpPr>
      <p:grpSpPr>
        <a:xfrm>
          <a:off x="0" y="0"/>
          <a:ext cx="0" cy="0"/>
          <a:chOff x="0" y="0"/>
          <a:chExt cx="0" cy="0"/>
        </a:xfrm>
      </p:grpSpPr>
      <p:sp>
        <p:nvSpPr>
          <p:cNvPr id="114" name="Google Shape;114;p17">
            <a:extLst>
              <a:ext uri="{FF2B5EF4-FFF2-40B4-BE49-F238E27FC236}">
                <a16:creationId xmlns="" xmlns:a16="http://schemas.microsoft.com/office/drawing/2014/main" id="{815A35B6-DF54-316C-0ED2-901594AE15CE}"/>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IN" dirty="0">
                <a:latin typeface="Cambria" panose="02040503050406030204" pitchFamily="18" charset="0"/>
                <a:ea typeface="Cambria" panose="02040503050406030204" pitchFamily="18" charset="0"/>
              </a:rPr>
              <a:t>Proposed Method &amp; Feasibility Study</a:t>
            </a:r>
          </a:p>
        </p:txBody>
      </p:sp>
      <p:sp>
        <p:nvSpPr>
          <p:cNvPr id="4" name="Rectangle 2">
            <a:extLst>
              <a:ext uri="{FF2B5EF4-FFF2-40B4-BE49-F238E27FC236}">
                <a16:creationId xmlns="" xmlns:a16="http://schemas.microsoft.com/office/drawing/2014/main" id="{F323BE44-7FFD-FEFC-F85C-56600778B26E}"/>
              </a:ext>
            </a:extLst>
          </p:cNvPr>
          <p:cNvSpPr>
            <a:spLocks noGrp="1" noChangeArrowheads="1"/>
          </p:cNvSpPr>
          <p:nvPr>
            <p:ph type="body" idx="1"/>
          </p:nvPr>
        </p:nvSpPr>
        <p:spPr bwMode="auto">
          <a:xfrm>
            <a:off x="576756" y="989944"/>
            <a:ext cx="10668000" cy="45602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US" sz="1600" b="1" dirty="0"/>
              <a:t>Proposed Method:</a:t>
            </a:r>
            <a:r>
              <a:rPr lang="en-US" sz="1600" dirty="0"/>
              <a:t> The innovative solution is a hybrid model that leverages </a:t>
            </a:r>
            <a:r>
              <a:rPr lang="en-US" sz="1600" b="1" dirty="0"/>
              <a:t>feature fusion</a:t>
            </a:r>
            <a:r>
              <a:rPr lang="en-US" sz="1600" dirty="0"/>
              <a:t> of </a:t>
            </a:r>
            <a:r>
              <a:rPr lang="en-US" sz="1600" dirty="0" err="1"/>
              <a:t>AlexNet</a:t>
            </a:r>
            <a:r>
              <a:rPr lang="en-US" sz="1600" dirty="0"/>
              <a:t> and </a:t>
            </a:r>
            <a:r>
              <a:rPr lang="en-US" sz="1600" dirty="0" err="1"/>
              <a:t>ResNet</a:t>
            </a:r>
            <a:r>
              <a:rPr lang="en-US" sz="1600" dirty="0"/>
              <a:t>. </a:t>
            </a:r>
            <a:r>
              <a:rPr lang="en-US" sz="1600" dirty="0" err="1"/>
              <a:t>AlexNet</a:t>
            </a:r>
            <a:r>
              <a:rPr lang="en-US" sz="1600" dirty="0"/>
              <a:t> excels at capturing lower-level features (edges, textures), while </a:t>
            </a:r>
            <a:r>
              <a:rPr lang="en-US" sz="1600" dirty="0" err="1"/>
              <a:t>ResNet's</a:t>
            </a:r>
            <a:r>
              <a:rPr lang="en-US" sz="1600" dirty="0"/>
              <a:t> deeper architecture with skip connections captures higher-level, complex features. Their feature vectors are extracted, combined (e.g., through concatenation), and fed into a new classifier. This is enhanced with </a:t>
            </a:r>
            <a:r>
              <a:rPr lang="en-US" sz="1600" b="1" dirty="0"/>
              <a:t>Grad-CAM</a:t>
            </a:r>
            <a:r>
              <a:rPr lang="en-US" sz="1600" dirty="0"/>
              <a:t>, which generates heatmaps to visually highlight the diseased regions the model used for classification, providing explainability.</a:t>
            </a:r>
            <a:endParaRPr lang="en-IN" sz="1600" dirty="0"/>
          </a:p>
          <a:p>
            <a:pPr lvl="0"/>
            <a:r>
              <a:rPr lang="en-US" sz="1600" b="1" dirty="0"/>
              <a:t>Feasibility Study:</a:t>
            </a:r>
            <a:endParaRPr lang="en-IN" sz="1600" dirty="0"/>
          </a:p>
          <a:p>
            <a:pPr lvl="1"/>
            <a:r>
              <a:rPr lang="en-US" sz="1600" b="1" dirty="0"/>
              <a:t>Technological:</a:t>
            </a:r>
            <a:r>
              <a:rPr lang="en-US" sz="1600" dirty="0"/>
              <a:t> Built using </a:t>
            </a:r>
            <a:r>
              <a:rPr lang="en-US" sz="1600" dirty="0" err="1"/>
              <a:t>PyTorch</a:t>
            </a:r>
            <a:r>
              <a:rPr lang="en-US" sz="1600" dirty="0"/>
              <a:t>, a popular and well-supported deep learning framework. Utilizes pre-trained models (transfer learning), reducing training time and computational needs. The runtime used was a T4 GPU, a widely available cloud computing resource.</a:t>
            </a:r>
            <a:endParaRPr lang="en-IN" sz="1600" dirty="0"/>
          </a:p>
          <a:p>
            <a:pPr lvl="1"/>
            <a:r>
              <a:rPr lang="en-US" sz="1600" b="1" dirty="0"/>
              <a:t>Cost:</a:t>
            </a:r>
            <a:r>
              <a:rPr lang="en-US" sz="1600" dirty="0"/>
              <a:t> The project uses open-source software (Python, </a:t>
            </a:r>
            <a:r>
              <a:rPr lang="en-US" sz="1600" dirty="0" err="1"/>
              <a:t>PyTorch</a:t>
            </a:r>
            <a:r>
              <a:rPr lang="en-US" sz="1600" dirty="0"/>
              <a:t>) and a publicly available dataset. The primary cost is associated with computational resources (GPU time for training), which is minimal for a project of this scale, especially when using cloud credits or institutional resources.</a:t>
            </a:r>
            <a:endParaRPr lang="en-IN" sz="1600" dirty="0"/>
          </a:p>
          <a:p>
            <a:pPr lvl="1"/>
            <a:r>
              <a:rPr lang="en-US" sz="1600" b="1" dirty="0"/>
              <a:t>Resources:</a:t>
            </a:r>
            <a:r>
              <a:rPr lang="en-US" sz="1600" dirty="0"/>
              <a:t> The required dataset is publicly available on Kaggle. The technical skills required (Python programming, </a:t>
            </a:r>
            <a:r>
              <a:rPr lang="en-US" sz="1600" dirty="0" err="1"/>
              <a:t>PyTorch</a:t>
            </a:r>
            <a:r>
              <a:rPr lang="en-US" sz="1600" dirty="0"/>
              <a:t>, deep learning knowledge) are common within AI/CS academic programs. The project is highly feasible for a university-level research team.</a:t>
            </a:r>
            <a:endParaRPr lang="en-IN" sz="1600" dirty="0"/>
          </a:p>
        </p:txBody>
      </p:sp>
    </p:spTree>
    <p:extLst>
      <p:ext uri="{BB962C8B-B14F-4D97-AF65-F5344CB8AC3E}">
        <p14:creationId xmlns="" xmlns:p14="http://schemas.microsoft.com/office/powerpoint/2010/main" val="3184955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 xmlns:a16="http://schemas.microsoft.com/office/drawing/2014/main" id="{E734E34F-8050-81DB-A181-A8D3E448C823}"/>
            </a:ext>
          </a:extLst>
        </p:cNvPr>
        <p:cNvGrpSpPr/>
        <p:nvPr/>
      </p:nvGrpSpPr>
      <p:grpSpPr>
        <a:xfrm>
          <a:off x="0" y="0"/>
          <a:ext cx="0" cy="0"/>
          <a:chOff x="0" y="0"/>
          <a:chExt cx="0" cy="0"/>
        </a:xfrm>
      </p:grpSpPr>
      <p:sp>
        <p:nvSpPr>
          <p:cNvPr id="114" name="Google Shape;114;p17">
            <a:extLst>
              <a:ext uri="{FF2B5EF4-FFF2-40B4-BE49-F238E27FC236}">
                <a16:creationId xmlns="" xmlns:a16="http://schemas.microsoft.com/office/drawing/2014/main" id="{0C87E333-86B6-0BB1-4592-2D674C6D279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Modules</a:t>
            </a:r>
          </a:p>
        </p:txBody>
      </p:sp>
      <p:sp>
        <p:nvSpPr>
          <p:cNvPr id="4" name="Rectangle 2">
            <a:extLst>
              <a:ext uri="{FF2B5EF4-FFF2-40B4-BE49-F238E27FC236}">
                <a16:creationId xmlns="" xmlns:a16="http://schemas.microsoft.com/office/drawing/2014/main" id="{5DA08781-43BD-8F77-08C5-3A41E2191C49}"/>
              </a:ext>
            </a:extLst>
          </p:cNvPr>
          <p:cNvSpPr>
            <a:spLocks noGrp="1" noChangeArrowheads="1"/>
          </p:cNvSpPr>
          <p:nvPr>
            <p:ph type="body" idx="1"/>
          </p:nvPr>
        </p:nvSpPr>
        <p:spPr bwMode="auto">
          <a:xfrm>
            <a:off x="707388" y="1133657"/>
            <a:ext cx="10668000" cy="46320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US" sz="1800" b="1" dirty="0"/>
              <a:t>Data Preprocessing Module:</a:t>
            </a:r>
            <a:r>
              <a:rPr lang="en-US" sz="1800" dirty="0"/>
              <a:t> Handles dataset extraction, image resizing (to 224x224), normalization (using ImageNet mean &amp; std), and data loading with batching and shuffling.</a:t>
            </a:r>
            <a:endParaRPr lang="en-IN" sz="1800" dirty="0"/>
          </a:p>
          <a:p>
            <a:pPr lvl="0"/>
            <a:r>
              <a:rPr lang="en-US" sz="1800" b="1" dirty="0"/>
              <a:t>Feature Extraction Module:</a:t>
            </a:r>
            <a:r>
              <a:rPr lang="en-US" sz="1800" dirty="0"/>
              <a:t> Contains the pre-trained </a:t>
            </a:r>
            <a:r>
              <a:rPr lang="en-US" sz="1800" dirty="0" err="1"/>
              <a:t>AlexNet</a:t>
            </a:r>
            <a:r>
              <a:rPr lang="en-US" sz="1800" dirty="0"/>
              <a:t> and </a:t>
            </a:r>
            <a:r>
              <a:rPr lang="en-US" sz="1800" dirty="0" err="1"/>
              <a:t>ResNet</a:t>
            </a:r>
            <a:r>
              <a:rPr lang="en-US" sz="1800" dirty="0"/>
              <a:t> models. Their final layers are modified to extract feature vectors instead of direct classifications.</a:t>
            </a:r>
            <a:endParaRPr lang="en-IN" sz="1800" dirty="0"/>
          </a:p>
          <a:p>
            <a:pPr lvl="0"/>
            <a:r>
              <a:rPr lang="en-US" sz="1800" b="1" dirty="0"/>
              <a:t>Feature Fusion Module:</a:t>
            </a:r>
            <a:r>
              <a:rPr lang="en-US" sz="1800" dirty="0"/>
              <a:t> Responsible for combining (concatenating) the feature vectors from the two extractor models into a unified representation.</a:t>
            </a:r>
            <a:endParaRPr lang="en-IN" sz="1800" dirty="0"/>
          </a:p>
          <a:p>
            <a:pPr lvl="0"/>
            <a:r>
              <a:rPr lang="en-US" sz="1800" b="1" dirty="0"/>
              <a:t>Classification Module:</a:t>
            </a:r>
            <a:r>
              <a:rPr lang="en-US" sz="1800" dirty="0"/>
              <a:t> Comprises fully connected layers that take the fused feature vector and learn to map it to the correct disease class.</a:t>
            </a:r>
            <a:endParaRPr lang="en-IN" sz="1800" dirty="0"/>
          </a:p>
          <a:p>
            <a:pPr lvl="0"/>
            <a:r>
              <a:rPr lang="en-US" sz="1800" b="1" dirty="0"/>
              <a:t>Model Training Module:</a:t>
            </a:r>
            <a:r>
              <a:rPr lang="en-US" sz="1800" dirty="0"/>
              <a:t> Manages the training loop, including forward pass, loss calculation (Cross-Entropy), backpropagation, and optimization (using SGD or Adam).</a:t>
            </a:r>
            <a:endParaRPr lang="en-IN" sz="1800" dirty="0"/>
          </a:p>
          <a:p>
            <a:pPr lvl="0"/>
            <a:r>
              <a:rPr lang="en-US" sz="1800" b="1" dirty="0"/>
              <a:t>Evaluation &amp; Visualization Module:</a:t>
            </a:r>
            <a:r>
              <a:rPr lang="en-US" sz="1800" dirty="0"/>
              <a:t> Calculates metrics (accuracy, loss) on the validation set, plots training history, and implements Grad-CAM to generate explanatory heatmaps for predictions.</a:t>
            </a:r>
            <a:endParaRPr lang="en-IN" sz="1800" dirty="0"/>
          </a:p>
        </p:txBody>
      </p:sp>
    </p:spTree>
    <p:extLst>
      <p:ext uri="{BB962C8B-B14F-4D97-AF65-F5344CB8AC3E}">
        <p14:creationId xmlns="" xmlns:p14="http://schemas.microsoft.com/office/powerpoint/2010/main" val="248831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 xmlns:a16="http://schemas.microsoft.com/office/drawing/2014/main" id="{874C07D8-5442-D8DD-7C97-9DB610E1587D}"/>
            </a:ext>
          </a:extLst>
        </p:cNvPr>
        <p:cNvGrpSpPr/>
        <p:nvPr/>
      </p:nvGrpSpPr>
      <p:grpSpPr>
        <a:xfrm>
          <a:off x="0" y="0"/>
          <a:ext cx="0" cy="0"/>
          <a:chOff x="0" y="0"/>
          <a:chExt cx="0" cy="0"/>
        </a:xfrm>
      </p:grpSpPr>
      <p:sp>
        <p:nvSpPr>
          <p:cNvPr id="114" name="Google Shape;114;p17">
            <a:extLst>
              <a:ext uri="{FF2B5EF4-FFF2-40B4-BE49-F238E27FC236}">
                <a16:creationId xmlns="" xmlns:a16="http://schemas.microsoft.com/office/drawing/2014/main" id="{DEFC6823-982A-CC24-5EED-9CED5E5C31B0}"/>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IN" dirty="0">
                <a:latin typeface="Cambria" panose="02040503050406030204" pitchFamily="18" charset="0"/>
                <a:ea typeface="Cambria" panose="02040503050406030204" pitchFamily="18" charset="0"/>
              </a:rPr>
              <a:t>Hardware and Software Details</a:t>
            </a:r>
            <a:endParaRPr lang="en-US" dirty="0">
              <a:latin typeface="Cambria" panose="02040503050406030204" pitchFamily="18" charset="0"/>
              <a:ea typeface="Cambria" panose="02040503050406030204" pitchFamily="18" charset="0"/>
            </a:endParaRPr>
          </a:p>
        </p:txBody>
      </p:sp>
      <p:sp>
        <p:nvSpPr>
          <p:cNvPr id="4" name="Rectangle 2">
            <a:extLst>
              <a:ext uri="{FF2B5EF4-FFF2-40B4-BE49-F238E27FC236}">
                <a16:creationId xmlns="" xmlns:a16="http://schemas.microsoft.com/office/drawing/2014/main" id="{C80632AD-20FC-0300-F054-D6726AB283DC}"/>
              </a:ext>
            </a:extLst>
          </p:cNvPr>
          <p:cNvSpPr>
            <a:spLocks noGrp="1" noChangeArrowheads="1"/>
          </p:cNvSpPr>
          <p:nvPr>
            <p:ph type="body" idx="1"/>
          </p:nvPr>
        </p:nvSpPr>
        <p:spPr bwMode="auto">
          <a:xfrm>
            <a:off x="576756" y="1754001"/>
            <a:ext cx="10668000" cy="29341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US" b="1" dirty="0"/>
              <a:t>Hardware:</a:t>
            </a:r>
            <a:r>
              <a:rPr lang="en-US" dirty="0"/>
              <a:t> GPU (NVIDIA T4 used in the paper), CPU, RAM.</a:t>
            </a:r>
            <a:endParaRPr lang="en-IN" dirty="0"/>
          </a:p>
          <a:p>
            <a:pPr lvl="0"/>
            <a:r>
              <a:rPr lang="en-US" b="1" dirty="0"/>
              <a:t>Software:</a:t>
            </a:r>
            <a:r>
              <a:rPr lang="en-US" dirty="0"/>
              <a:t> Python, </a:t>
            </a:r>
            <a:r>
              <a:rPr lang="en-US" dirty="0" err="1"/>
              <a:t>PyTorch</a:t>
            </a:r>
            <a:r>
              <a:rPr lang="en-US" dirty="0"/>
              <a:t>, </a:t>
            </a:r>
            <a:r>
              <a:rPr lang="en-US" dirty="0" err="1"/>
              <a:t>Torchvision</a:t>
            </a:r>
            <a:r>
              <a:rPr lang="en-US" dirty="0"/>
              <a:t>, NumPy, Pandas, Matplotlib, OpenCV.</a:t>
            </a:r>
            <a:endParaRPr lang="en-IN" dirty="0"/>
          </a:p>
          <a:p>
            <a:pPr lvl="0"/>
            <a:r>
              <a:rPr lang="en-US" b="1" dirty="0"/>
              <a:t>Frameworks:</a:t>
            </a:r>
            <a:r>
              <a:rPr lang="en-US" dirty="0"/>
              <a:t> </a:t>
            </a:r>
            <a:r>
              <a:rPr lang="en-US" dirty="0" err="1"/>
              <a:t>PyTorch</a:t>
            </a:r>
            <a:r>
              <a:rPr lang="en-US" dirty="0"/>
              <a:t> Deep Learning Framework.</a:t>
            </a:r>
            <a:endParaRPr lang="en-IN" dirty="0"/>
          </a:p>
          <a:p>
            <a:pPr lvl="0"/>
            <a:r>
              <a:rPr lang="en-US" b="1" dirty="0"/>
              <a:t>Dataset:</a:t>
            </a:r>
            <a:r>
              <a:rPr lang="en-US" dirty="0"/>
              <a:t> Mango Leaf Disease Dataset from Kaggle (4000 images, 8 classes).</a:t>
            </a:r>
            <a:endParaRPr lang="en-IN" dirty="0"/>
          </a:p>
          <a:p>
            <a:pPr marL="342900" indent="-342900" eaLnBrk="0" fontAlgn="base" hangingPunct="0">
              <a:spcBef>
                <a:spcPct val="0"/>
              </a:spcBef>
              <a:spcAft>
                <a:spcPct val="0"/>
              </a:spcAft>
              <a:buClrTx/>
              <a:buSzTx/>
            </a:pPr>
            <a:endParaRPr lang="en-US" altLang="en-US"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 xmlns:p14="http://schemas.microsoft.com/office/powerpoint/2010/main" val="762267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261872"/>
            <a:ext cx="10668000" cy="4834128"/>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a:t>
            </a:r>
            <a:endParaRPr dirty="0">
              <a:latin typeface="Cambria" panose="02040503050406030204" pitchFamily="18" charset="0"/>
              <a:ea typeface="Cambria" panose="02040503050406030204" pitchFamily="18" charset="0"/>
            </a:endParaRPr>
          </a:p>
        </p:txBody>
      </p:sp>
      <p:pic>
        <p:nvPicPr>
          <p:cNvPr id="5" name="Picture 4" descr="ganttpic.png"/>
          <p:cNvPicPr>
            <a:picLocks noChangeAspect="1"/>
          </p:cNvPicPr>
          <p:nvPr/>
        </p:nvPicPr>
        <p:blipFill>
          <a:blip r:embed="rId3"/>
          <a:stretch>
            <a:fillRect/>
          </a:stretch>
        </p:blipFill>
        <p:spPr>
          <a:xfrm>
            <a:off x="269890" y="1292087"/>
            <a:ext cx="11529249" cy="4293704"/>
          </a:xfrm>
          <a:prstGeom prst="rect">
            <a:avLst/>
          </a:prstGeom>
        </p:spPr>
      </p:pic>
    </p:spTree>
    <p:extLst>
      <p:ext uri="{BB962C8B-B14F-4D97-AF65-F5344CB8AC3E}">
        <p14:creationId xmlns="" xmlns:p14="http://schemas.microsoft.com/office/powerpoint/2010/main" val="479890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r>
              <a:rPr lang="en-US" sz="2000" i="1" dirty="0"/>
              <a:t>M. Radhakrishnan et al., "Implementation of Explainable AI in Deep Learning Methods for Multiclass Classification of Plant Diseases in Mango Leaves," Electron. Lett. </a:t>
            </a:r>
            <a:r>
              <a:rPr lang="en-US" sz="2000" i="1" dirty="0" err="1"/>
              <a:t>Comput</a:t>
            </a:r>
            <a:r>
              <a:rPr lang="en-US" sz="2000" i="1" dirty="0"/>
              <a:t>. Vision Image Anal., vol. 24, no. 1, pp. 104–117, 2025.</a:t>
            </a:r>
          </a:p>
          <a:p>
            <a:pPr marL="76200" indent="0">
              <a:buNone/>
            </a:pPr>
            <a:r>
              <a:rPr lang="en-US" sz="2000" dirty="0"/>
              <a:t/>
            </a:r>
            <a:br>
              <a:rPr lang="en-US" sz="2000" dirty="0"/>
            </a:br>
            <a:r>
              <a:rPr lang="en-US" sz="2000" i="1" dirty="0"/>
              <a:t>[2] M. H. K. Mehedi et al., "Plant Leaf Disease Detection using Transfer Learning and Explainable AI," in IEEE 13th Annual IEMCON, 2022.          </a:t>
            </a:r>
          </a:p>
          <a:p>
            <a:pPr marL="76200" indent="0">
              <a:buNone/>
            </a:pPr>
            <a:r>
              <a:rPr lang="en-US" sz="2000" dirty="0"/>
              <a:t/>
            </a:r>
            <a:br>
              <a:rPr lang="en-US" sz="2000" dirty="0"/>
            </a:br>
            <a:r>
              <a:rPr lang="en-US" sz="2000" dirty="0"/>
              <a:t>*[3] M. M. Islam et al., "</a:t>
            </a:r>
            <a:r>
              <a:rPr lang="en-US" sz="2000" dirty="0" err="1"/>
              <a:t>DeepCrop</a:t>
            </a:r>
            <a:r>
              <a:rPr lang="en-US" sz="2000" dirty="0"/>
              <a:t>: Deep learning-based crop disease prediction with web application," </a:t>
            </a:r>
            <a:r>
              <a:rPr lang="en-US" sz="2000" i="1" dirty="0"/>
              <a:t>J. Agric. Food Res.</a:t>
            </a:r>
            <a:r>
              <a:rPr lang="en-US" sz="2000" dirty="0"/>
              <a:t>, vol. 14, p. 100764, 2023.*</a:t>
            </a:r>
            <a:br>
              <a:rPr lang="en-US" sz="2000" dirty="0"/>
            </a:br>
            <a:r>
              <a:rPr lang="en-US" sz="2000" i="1" dirty="0"/>
              <a:t>... (and all other references from the provided paper's list in IEEE format) ...</a:t>
            </a:r>
            <a:endParaRPr lang="en-IN"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1884</TotalTime>
  <Words>405</Words>
  <Application>Microsoft Office PowerPoint</Application>
  <PresentationFormat>Custom</PresentationFormat>
  <Paragraphs>97</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Bioinformatics</vt:lpstr>
      <vt:lpstr>PSCS_150 Student Innovation (Mango leaf  Disease  Detection Using Deep Learning)</vt:lpstr>
      <vt:lpstr>Content</vt:lpstr>
      <vt:lpstr>Problem Statement Number: PSCS_3 </vt:lpstr>
      <vt:lpstr>Abstract</vt:lpstr>
      <vt:lpstr>Literature Survey</vt:lpstr>
      <vt:lpstr>Literature Survey</vt:lpstr>
      <vt:lpstr>Objectives</vt:lpstr>
      <vt:lpstr>Existing Methods and Drawbacks</vt:lpstr>
      <vt:lpstr>Proposed Method &amp; Feasibility Study</vt:lpstr>
      <vt:lpstr>Modules</vt:lpstr>
      <vt:lpstr>Hardware and Software Details</vt:lpstr>
      <vt:lpstr>Timeline of the Project (Gantt Chart)</vt:lpstr>
      <vt:lpstr>References (IEEE Paper format)</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Admin</cp:lastModifiedBy>
  <cp:revision>44</cp:revision>
  <dcterms:modified xsi:type="dcterms:W3CDTF">2025-09-11T08:39:14Z</dcterms:modified>
</cp:coreProperties>
</file>